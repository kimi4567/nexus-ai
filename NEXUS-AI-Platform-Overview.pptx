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7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457200"/>
            <a:ext cx="4572000" cy="4572000"/>
          </a:xfrm>
          <a:prstGeom prst="ellipse">
            <a:avLst/>
          </a:prstGeom>
          <a:solidFill>
            <a:srgbClr val="8B5CF6">
              <a:alpha val="12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1828800"/>
            <a:ext cx="3657600" cy="3657600"/>
          </a:xfrm>
          <a:prstGeom prst="ellipse">
            <a:avLst/>
          </a:prstGeom>
          <a:solidFill>
            <a:srgbClr val="22D3EE">
              <a:alpha val="1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0" y="1097280"/>
            <a:ext cx="2194560" cy="365760"/>
          </a:xfrm>
          <a:prstGeom prst="roundRect">
            <a:avLst>
              <a:gd name="adj" fmla="val 37500"/>
            </a:avLst>
          </a:prstGeom>
          <a:solidFill>
            <a:srgbClr val="8B5CF6">
              <a:alpha val="80000"/>
            </a:srgbClr>
          </a:solidFill>
          <a:ln w="10160">
            <a:solidFill>
              <a:srgbClr val="8B5C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0" y="1097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AI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Architecture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914400" y="260604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Complete Site Map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1371600" y="35204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product overview: pages, flows, agents, APIs, and tech stack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0" y="4206240"/>
            <a:ext cx="2743200" cy="0"/>
          </a:xfrm>
          <a:prstGeom prst="line">
            <a:avLst/>
          </a:prstGeom>
          <a:noFill/>
          <a:ln w="12700">
            <a:solidFill>
              <a:srgbClr val="8B5C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5720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nexus-ai.io  ·  Powered by GPT-4o  ·  2025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7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B5CF6"/>
                </a:solidFill>
              </a:rPr>
              <a:t>PRODUCT OVERVIEW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AI: The AI Marketing OS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writing tool — a full AI marketing department for businesses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1920240" cy="2560320"/>
          </a:xfrm>
          <a:prstGeom prst="rect">
            <a:avLst/>
          </a:prstGeom>
          <a:solidFill>
            <a:srgbClr val="0D1225"/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874520"/>
            <a:ext cx="1920240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0116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24231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Strategist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788920"/>
            <a:ext cx="1371600" cy="0"/>
          </a:xfrm>
          <a:prstGeom prst="line">
            <a:avLst/>
          </a:prstGeom>
          <a:noFill/>
          <a:ln w="6350">
            <a:solidFill>
              <a:srgbClr val="4755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880360"/>
            <a:ext cx="192024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full marketing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with GPT-4o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77240" y="3794760"/>
            <a:ext cx="1280160" cy="292608"/>
          </a:xfrm>
          <a:prstGeom prst="roundRect">
            <a:avLst>
              <a:gd name="adj" fmla="val 25000"/>
            </a:avLst>
          </a:prstGeom>
          <a:solidFill>
            <a:srgbClr val="8B5CF6">
              <a:alpha val="25000"/>
            </a:srgbClr>
          </a:solidFill>
          <a:ln w="7620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7947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5CF6"/>
                </a:solidFill>
              </a:rPr>
              <a:t>AI Agent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542032" y="1874520"/>
            <a:ext cx="1920240" cy="2560320"/>
          </a:xfrm>
          <a:prstGeom prst="rect">
            <a:avLst/>
          </a:prstGeom>
          <a:solidFill>
            <a:srgbClr val="0D1225"/>
          </a:solidFill>
          <a:ln w="19050">
            <a:solidFill>
              <a:srgbClr val="22D3EE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42032" y="1874520"/>
            <a:ext cx="1920240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42032" y="20116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542032" y="24231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Writer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816352" y="2788920"/>
            <a:ext cx="1371600" cy="0"/>
          </a:xfrm>
          <a:prstGeom prst="line">
            <a:avLst/>
          </a:prstGeom>
          <a:noFill/>
          <a:ln w="6350">
            <a:solidFill>
              <a:srgbClr val="4755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42032" y="2880360"/>
            <a:ext cx="192024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posts in your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voice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862072" y="3794760"/>
            <a:ext cx="1280160" cy="292608"/>
          </a:xfrm>
          <a:prstGeom prst="roundRect">
            <a:avLst>
              <a:gd name="adj" fmla="val 25000"/>
            </a:avLst>
          </a:prstGeom>
          <a:solidFill>
            <a:srgbClr val="22D3EE">
              <a:alpha val="25000"/>
            </a:srgbClr>
          </a:solidFill>
          <a:ln w="7620">
            <a:solidFill>
              <a:srgbClr val="22D3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62072" y="37947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D3EE"/>
                </a:solidFill>
              </a:rPr>
              <a:t>AI Agent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626864" y="1874520"/>
            <a:ext cx="1920240" cy="2560320"/>
          </a:xfrm>
          <a:prstGeom prst="rect">
            <a:avLst/>
          </a:prstGeom>
          <a:solidFill>
            <a:srgbClr val="0D1225"/>
          </a:solidFill>
          <a:ln w="19050">
            <a:solidFill>
              <a:srgbClr val="F97316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26864" y="1874520"/>
            <a:ext cx="1920240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26864" y="20116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VEX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626864" y="24231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Campaigns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901184" y="2788920"/>
            <a:ext cx="1371600" cy="0"/>
          </a:xfrm>
          <a:prstGeom prst="line">
            <a:avLst/>
          </a:prstGeom>
          <a:noFill/>
          <a:ln w="6350">
            <a:solidFill>
              <a:srgbClr val="4755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26864" y="2880360"/>
            <a:ext cx="192024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complete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campaign briefs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946904" y="3794760"/>
            <a:ext cx="1280160" cy="292608"/>
          </a:xfrm>
          <a:prstGeom prst="roundRect">
            <a:avLst>
              <a:gd name="adj" fmla="val 25000"/>
            </a:avLst>
          </a:prstGeom>
          <a:solidFill>
            <a:srgbClr val="F97316">
              <a:alpha val="25000"/>
            </a:srgbClr>
          </a:solidFill>
          <a:ln w="7620">
            <a:solidFill>
              <a:srgbClr val="F9731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46904" y="37947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7316"/>
                </a:solidFill>
              </a:rPr>
              <a:t>AI Agent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711696" y="1874520"/>
            <a:ext cx="1920240" cy="2560320"/>
          </a:xfrm>
          <a:prstGeom prst="rect">
            <a:avLst/>
          </a:prstGeom>
          <a:solidFill>
            <a:srgbClr val="0D1225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711696" y="1874520"/>
            <a:ext cx="192024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11696" y="20116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711696" y="24231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Monitor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986016" y="2788920"/>
            <a:ext cx="1371600" cy="0"/>
          </a:xfrm>
          <a:prstGeom prst="line">
            <a:avLst/>
          </a:prstGeom>
          <a:noFill/>
          <a:ln w="6350">
            <a:solidFill>
              <a:srgbClr val="4755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11696" y="2880360"/>
            <a:ext cx="192024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campaigns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competitors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031736" y="3794760"/>
            <a:ext cx="1280160" cy="292608"/>
          </a:xfrm>
          <a:prstGeom prst="roundRect">
            <a:avLst>
              <a:gd name="adj" fmla="val 25000"/>
            </a:avLst>
          </a:prstGeom>
          <a:solidFill>
            <a:srgbClr val="10B981">
              <a:alpha val="25000"/>
            </a:srgbClr>
          </a:solidFill>
          <a:ln w="7620">
            <a:solidFill>
              <a:srgbClr val="10B9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031736" y="37947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AI Agent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57200" y="45720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457200" y="489204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 per campaign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542032" y="45720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2542032" y="489204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working together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626864" y="45720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min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4626864" y="489204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content plan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711696" y="45720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6711696" y="489204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platforms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7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B5CF6"/>
                </a:solidFill>
              </a:rPr>
              <a:t>SITE MAP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Page Hierarchy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840480" y="1005840"/>
            <a:ext cx="1463040" cy="3200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0" y="10058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nexus-ai.io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1463040"/>
            <a:ext cx="1399032" cy="274320"/>
          </a:xfrm>
          <a:prstGeom prst="rect">
            <a:avLst/>
          </a:prstGeom>
          <a:solidFill>
            <a:srgbClr val="22D3EE">
              <a:alpha val="8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463040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PUBLIC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928116" y="1325880"/>
            <a:ext cx="0" cy="137160"/>
          </a:xfrm>
          <a:prstGeom prst="line">
            <a:avLst/>
          </a:prstGeom>
          <a:noFill/>
          <a:ln w="8890">
            <a:solidFill>
              <a:srgbClr val="22D3EE"/>
            </a:solidFill>
            <a:prstDash val="sysDot"/>
          </a:ln>
        </p:spPr>
      </p:sp>
      <p:sp>
        <p:nvSpPr>
          <p:cNvPr id="9" name="Shape 7"/>
          <p:cNvSpPr/>
          <p:nvPr/>
        </p:nvSpPr>
        <p:spPr>
          <a:xfrm>
            <a:off x="228600" y="1828800"/>
            <a:ext cx="1399032" cy="292608"/>
          </a:xfrm>
          <a:prstGeom prst="rect">
            <a:avLst/>
          </a:prstGeom>
          <a:solidFill>
            <a:srgbClr val="0D1225"/>
          </a:solidFill>
          <a:ln w="10160">
            <a:solidFill>
              <a:srgbClr val="22D3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1828800"/>
            <a:ext cx="1399032" cy="29260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/ (Home)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228600" y="2212848"/>
            <a:ext cx="1399032" cy="292608"/>
          </a:xfrm>
          <a:prstGeom prst="rect">
            <a:avLst/>
          </a:prstGeom>
          <a:solidFill>
            <a:srgbClr val="0D1225"/>
          </a:solidFill>
          <a:ln w="10160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" y="2212848"/>
            <a:ext cx="1399032" cy="29260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/demo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228600" y="2596896"/>
            <a:ext cx="1399032" cy="292608"/>
          </a:xfrm>
          <a:prstGeom prst="rect">
            <a:avLst/>
          </a:prstGeom>
          <a:solidFill>
            <a:srgbClr val="0D1225"/>
          </a:solidFill>
          <a:ln w="1016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" y="2596896"/>
            <a:ext cx="1399032" cy="29260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/marketing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228600" y="2980944"/>
            <a:ext cx="1399032" cy="292608"/>
          </a:xfrm>
          <a:prstGeom prst="rect">
            <a:avLst/>
          </a:prstGeom>
          <a:solidFill>
            <a:srgbClr val="0D1225"/>
          </a:solidFill>
          <a:ln w="10160">
            <a:solidFill>
              <a:srgbClr val="22D3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8600" y="2980944"/>
            <a:ext cx="1399032" cy="29260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/cookies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228600" y="3364992"/>
            <a:ext cx="1399032" cy="292608"/>
          </a:xfrm>
          <a:prstGeom prst="rect">
            <a:avLst/>
          </a:prstGeom>
          <a:solidFill>
            <a:srgbClr val="0D1225"/>
          </a:solidFill>
          <a:ln w="10160">
            <a:solidFill>
              <a:srgbClr val="22D3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" y="3364992"/>
            <a:ext cx="1399032" cy="29260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/privacy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228600" y="3749040"/>
            <a:ext cx="1399032" cy="292608"/>
          </a:xfrm>
          <a:prstGeom prst="rect">
            <a:avLst/>
          </a:prstGeom>
          <a:solidFill>
            <a:srgbClr val="0D1225"/>
          </a:solidFill>
          <a:ln w="10160">
            <a:solidFill>
              <a:srgbClr val="22D3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8600" y="3749040"/>
            <a:ext cx="1399032" cy="29260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/terms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228600" y="4133088"/>
            <a:ext cx="1399032" cy="292608"/>
          </a:xfrm>
          <a:prstGeom prst="rect">
            <a:avLst/>
          </a:prstGeom>
          <a:solidFill>
            <a:srgbClr val="0D1225"/>
          </a:solidFill>
          <a:ln w="10160">
            <a:solidFill>
              <a:srgbClr val="22D3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8600" y="4133088"/>
            <a:ext cx="1399032" cy="29260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/refund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1627632" y="1463040"/>
            <a:ext cx="1399032" cy="274320"/>
          </a:xfrm>
          <a:prstGeom prst="rect">
            <a:avLst/>
          </a:prstGeom>
          <a:solidFill>
            <a:srgbClr val="F97316">
              <a:alpha val="8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27632" y="1463040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AUTH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2327148" y="1325880"/>
            <a:ext cx="0" cy="137160"/>
          </a:xfrm>
          <a:prstGeom prst="line">
            <a:avLst/>
          </a:prstGeom>
          <a:noFill/>
          <a:ln w="8890">
            <a:solidFill>
              <a:srgbClr val="F97316"/>
            </a:solidFill>
            <a:prstDash val="sysDot"/>
          </a:ln>
        </p:spPr>
      </p:sp>
      <p:sp>
        <p:nvSpPr>
          <p:cNvPr id="26" name="Shape 24"/>
          <p:cNvSpPr/>
          <p:nvPr/>
        </p:nvSpPr>
        <p:spPr>
          <a:xfrm>
            <a:off x="1627632" y="1828800"/>
            <a:ext cx="1399032" cy="292608"/>
          </a:xfrm>
          <a:prstGeom prst="rect">
            <a:avLst/>
          </a:prstGeom>
          <a:solidFill>
            <a:srgbClr val="0D1225"/>
          </a:solidFill>
          <a:ln w="10160">
            <a:solidFill>
              <a:srgbClr val="F9731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627632" y="1828800"/>
            <a:ext cx="1399032" cy="29260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/auth/login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1627632" y="2212848"/>
            <a:ext cx="1399032" cy="292608"/>
          </a:xfrm>
          <a:prstGeom prst="rect">
            <a:avLst/>
          </a:prstGeom>
          <a:solidFill>
            <a:srgbClr val="0D1225"/>
          </a:solidFill>
          <a:ln w="10160">
            <a:solidFill>
              <a:srgbClr val="F9731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627632" y="2212848"/>
            <a:ext cx="1399032" cy="29260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/auth/register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1627632" y="2596896"/>
            <a:ext cx="1399032" cy="292608"/>
          </a:xfrm>
          <a:prstGeom prst="rect">
            <a:avLst/>
          </a:prstGeom>
          <a:solidFill>
            <a:srgbClr val="0D1225"/>
          </a:solidFill>
          <a:ln w="10160">
            <a:solidFill>
              <a:srgbClr val="F9731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627632" y="2596896"/>
            <a:ext cx="1399032" cy="29260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/auth/forgot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1627632" y="2980944"/>
            <a:ext cx="1399032" cy="292608"/>
          </a:xfrm>
          <a:prstGeom prst="rect">
            <a:avLst/>
          </a:prstGeom>
          <a:solidFill>
            <a:srgbClr val="0D1225"/>
          </a:solidFill>
          <a:ln w="10160">
            <a:solidFill>
              <a:srgbClr val="F9731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627632" y="2980944"/>
            <a:ext cx="1399032" cy="29260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/auth/reset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1627632" y="3364992"/>
            <a:ext cx="1399032" cy="292608"/>
          </a:xfrm>
          <a:prstGeom prst="rect">
            <a:avLst/>
          </a:prstGeom>
          <a:solidFill>
            <a:srgbClr val="0D1225"/>
          </a:solidFill>
          <a:ln w="10160">
            <a:solidFill>
              <a:srgbClr val="F9731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627632" y="3364992"/>
            <a:ext cx="1399032" cy="29260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/onboarding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1627632" y="3749040"/>
            <a:ext cx="1399032" cy="292608"/>
          </a:xfrm>
          <a:prstGeom prst="rect">
            <a:avLst/>
          </a:prstGeom>
          <a:solidFill>
            <a:srgbClr val="0D1225"/>
          </a:solidFill>
          <a:ln w="10160">
            <a:solidFill>
              <a:srgbClr val="F9731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627632" y="3749040"/>
            <a:ext cx="1399032" cy="29260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/start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3026664" y="1463040"/>
            <a:ext cx="1399032" cy="274320"/>
          </a:xfrm>
          <a:prstGeom prst="rect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026664" y="1463040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DASHBOARD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3726180" y="1325880"/>
            <a:ext cx="0" cy="137160"/>
          </a:xfrm>
          <a:prstGeom prst="line">
            <a:avLst/>
          </a:prstGeom>
          <a:noFill/>
          <a:ln w="8890">
            <a:solidFill>
              <a:srgbClr val="8B5CF6"/>
            </a:solidFill>
            <a:prstDash val="sysDot"/>
          </a:ln>
        </p:spPr>
      </p:sp>
      <p:sp>
        <p:nvSpPr>
          <p:cNvPr id="41" name="Shape 39"/>
          <p:cNvSpPr/>
          <p:nvPr/>
        </p:nvSpPr>
        <p:spPr>
          <a:xfrm>
            <a:off x="3026664" y="1828800"/>
            <a:ext cx="1399032" cy="292608"/>
          </a:xfrm>
          <a:prstGeom prst="rect">
            <a:avLst/>
          </a:prstGeom>
          <a:solidFill>
            <a:srgbClr val="0D1225"/>
          </a:solidFill>
          <a:ln w="10160">
            <a:solidFill>
              <a:srgbClr val="8B5CF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026664" y="1828800"/>
            <a:ext cx="1399032" cy="29260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/dashboard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3026664" y="2212848"/>
            <a:ext cx="1399032" cy="292608"/>
          </a:xfrm>
          <a:prstGeom prst="rect">
            <a:avLst/>
          </a:prstGeom>
          <a:solidFill>
            <a:srgbClr val="0D1225"/>
          </a:solidFill>
          <a:ln w="10160">
            <a:solidFill>
              <a:srgbClr val="8B5CF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026664" y="2212848"/>
            <a:ext cx="1399032" cy="29260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/brand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3026664" y="2596896"/>
            <a:ext cx="1399032" cy="292608"/>
          </a:xfrm>
          <a:prstGeom prst="rect">
            <a:avLst/>
          </a:prstGeom>
          <a:solidFill>
            <a:srgbClr val="0D1225"/>
          </a:solidFill>
          <a:ln w="10160">
            <a:solidFill>
              <a:srgbClr val="8B5CF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026664" y="2596896"/>
            <a:ext cx="1399032" cy="29260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/strategy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3026664" y="2980944"/>
            <a:ext cx="1399032" cy="292608"/>
          </a:xfrm>
          <a:prstGeom prst="rect">
            <a:avLst/>
          </a:prstGeom>
          <a:solidFill>
            <a:srgbClr val="0D1225"/>
          </a:solidFill>
          <a:ln w="10160">
            <a:solidFill>
              <a:srgbClr val="8B5CF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026664" y="2980944"/>
            <a:ext cx="1399032" cy="29260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/campaigns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3026664" y="3364992"/>
            <a:ext cx="1399032" cy="292608"/>
          </a:xfrm>
          <a:prstGeom prst="rect">
            <a:avLst/>
          </a:prstGeom>
          <a:solidFill>
            <a:srgbClr val="0D1225"/>
          </a:solidFill>
          <a:ln w="10160">
            <a:solidFill>
              <a:srgbClr val="8B5CF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026664" y="3364992"/>
            <a:ext cx="1399032" cy="29260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/agency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4425696" y="1463040"/>
            <a:ext cx="1399032" cy="274320"/>
          </a:xfrm>
          <a:prstGeom prst="rect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425696" y="1463040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WORKSPACE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5125212" y="1325880"/>
            <a:ext cx="0" cy="137160"/>
          </a:xfrm>
          <a:prstGeom prst="line">
            <a:avLst/>
          </a:prstGeom>
          <a:noFill/>
          <a:ln w="8890">
            <a:solidFill>
              <a:srgbClr val="10B981"/>
            </a:solidFill>
            <a:prstDash val="sysDot"/>
          </a:ln>
        </p:spPr>
      </p:sp>
      <p:sp>
        <p:nvSpPr>
          <p:cNvPr id="54" name="Shape 52"/>
          <p:cNvSpPr/>
          <p:nvPr/>
        </p:nvSpPr>
        <p:spPr>
          <a:xfrm>
            <a:off x="4425696" y="1828800"/>
            <a:ext cx="1399032" cy="292608"/>
          </a:xfrm>
          <a:prstGeom prst="rect">
            <a:avLst/>
          </a:prstGeom>
          <a:solidFill>
            <a:srgbClr val="0D1225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425696" y="1828800"/>
            <a:ext cx="1399032" cy="29260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/calendar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4425696" y="2212848"/>
            <a:ext cx="1399032" cy="292608"/>
          </a:xfrm>
          <a:prstGeom prst="rect">
            <a:avLst/>
          </a:prstGeom>
          <a:solidFill>
            <a:srgbClr val="0D1225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425696" y="2212848"/>
            <a:ext cx="1399032" cy="29260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/schedule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4425696" y="2596896"/>
            <a:ext cx="1399032" cy="292608"/>
          </a:xfrm>
          <a:prstGeom prst="rect">
            <a:avLst/>
          </a:prstGeom>
          <a:solidFill>
            <a:srgbClr val="0D1225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425696" y="2596896"/>
            <a:ext cx="1399032" cy="29260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/media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4425696" y="2980944"/>
            <a:ext cx="1399032" cy="292608"/>
          </a:xfrm>
          <a:prstGeom prst="rect">
            <a:avLst/>
          </a:prstGeom>
          <a:solidFill>
            <a:srgbClr val="0D1225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425696" y="2980944"/>
            <a:ext cx="1399032" cy="29260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/imports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4425696" y="3364992"/>
            <a:ext cx="1399032" cy="292608"/>
          </a:xfrm>
          <a:prstGeom prst="rect">
            <a:avLst/>
          </a:prstGeom>
          <a:solidFill>
            <a:srgbClr val="0D1225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425696" y="3364992"/>
            <a:ext cx="1399032" cy="29260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/connections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4425696" y="3749040"/>
            <a:ext cx="1399032" cy="292608"/>
          </a:xfrm>
          <a:prstGeom prst="rect">
            <a:avLst/>
          </a:prstGeom>
          <a:solidFill>
            <a:srgbClr val="0D1225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425696" y="3749040"/>
            <a:ext cx="1399032" cy="29260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/content-hub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5824728" y="1463040"/>
            <a:ext cx="1399032" cy="274320"/>
          </a:xfrm>
          <a:prstGeom prst="rect">
            <a:avLst/>
          </a:prstGeom>
          <a:solidFill>
            <a:srgbClr val="F97316">
              <a:alpha val="8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824728" y="1463040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CAMPAIGNS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6524244" y="1325880"/>
            <a:ext cx="0" cy="137160"/>
          </a:xfrm>
          <a:prstGeom prst="line">
            <a:avLst/>
          </a:prstGeom>
          <a:noFill/>
          <a:ln w="8890">
            <a:solidFill>
              <a:srgbClr val="F97316"/>
            </a:solidFill>
            <a:prstDash val="sysDot"/>
          </a:ln>
        </p:spPr>
      </p:sp>
      <p:sp>
        <p:nvSpPr>
          <p:cNvPr id="69" name="Shape 67"/>
          <p:cNvSpPr/>
          <p:nvPr/>
        </p:nvSpPr>
        <p:spPr>
          <a:xfrm>
            <a:off x="5824728" y="1828800"/>
            <a:ext cx="1399032" cy="292608"/>
          </a:xfrm>
          <a:prstGeom prst="rect">
            <a:avLst/>
          </a:prstGeom>
          <a:solidFill>
            <a:srgbClr val="0D1225"/>
          </a:solidFill>
          <a:ln w="10160">
            <a:solidFill>
              <a:srgbClr val="F97316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824728" y="1828800"/>
            <a:ext cx="1399032" cy="29260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/campaigns/[id]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5916168" y="2212848"/>
            <a:ext cx="1216152" cy="292608"/>
          </a:xfrm>
          <a:prstGeom prst="rect">
            <a:avLst/>
          </a:prstGeom>
          <a:solidFill>
            <a:srgbClr val="0D1225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916168" y="2212848"/>
            <a:ext cx="1216152" cy="29260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4A3B8"/>
                </a:solidFill>
              </a:rPr>
              <a:t>/content-hub</a:t>
            </a:r>
            <a:endParaRPr lang="en-US" sz="600" dirty="0"/>
          </a:p>
        </p:txBody>
      </p:sp>
      <p:sp>
        <p:nvSpPr>
          <p:cNvPr id="73" name="Shape 71"/>
          <p:cNvSpPr/>
          <p:nvPr/>
        </p:nvSpPr>
        <p:spPr>
          <a:xfrm>
            <a:off x="5916168" y="2596896"/>
            <a:ext cx="1216152" cy="292608"/>
          </a:xfrm>
          <a:prstGeom prst="rect">
            <a:avLst/>
          </a:prstGeom>
          <a:solidFill>
            <a:srgbClr val="0D1225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916168" y="2596896"/>
            <a:ext cx="1216152" cy="29260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4A3B8"/>
                </a:solidFill>
              </a:rPr>
              <a:t>/creative-brief</a:t>
            </a:r>
            <a:endParaRPr lang="en-US" sz="600" dirty="0"/>
          </a:p>
        </p:txBody>
      </p:sp>
      <p:sp>
        <p:nvSpPr>
          <p:cNvPr id="75" name="Shape 73"/>
          <p:cNvSpPr/>
          <p:nvPr/>
        </p:nvSpPr>
        <p:spPr>
          <a:xfrm>
            <a:off x="5916168" y="2980944"/>
            <a:ext cx="1216152" cy="292608"/>
          </a:xfrm>
          <a:prstGeom prst="rect">
            <a:avLst/>
          </a:prstGeom>
          <a:solidFill>
            <a:srgbClr val="0D1225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916168" y="2980944"/>
            <a:ext cx="1216152" cy="29260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4A3B8"/>
                </a:solidFill>
              </a:rPr>
              <a:t>/paid-launch</a:t>
            </a:r>
            <a:endParaRPr lang="en-US" sz="600" dirty="0"/>
          </a:p>
        </p:txBody>
      </p:sp>
      <p:sp>
        <p:nvSpPr>
          <p:cNvPr id="77" name="Shape 75"/>
          <p:cNvSpPr/>
          <p:nvPr/>
        </p:nvSpPr>
        <p:spPr>
          <a:xfrm>
            <a:off x="5916168" y="3364992"/>
            <a:ext cx="1216152" cy="292608"/>
          </a:xfrm>
          <a:prstGeom prst="rect">
            <a:avLst/>
          </a:prstGeom>
          <a:solidFill>
            <a:srgbClr val="0D1225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916168" y="3364992"/>
            <a:ext cx="1216152" cy="29260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4A3B8"/>
                </a:solidFill>
              </a:rPr>
              <a:t>/content-pack</a:t>
            </a:r>
            <a:endParaRPr lang="en-US" sz="600" dirty="0"/>
          </a:p>
        </p:txBody>
      </p:sp>
      <p:sp>
        <p:nvSpPr>
          <p:cNvPr id="79" name="Shape 77"/>
          <p:cNvSpPr/>
          <p:nvPr/>
        </p:nvSpPr>
        <p:spPr>
          <a:xfrm>
            <a:off x="5916168" y="3749040"/>
            <a:ext cx="1216152" cy="292608"/>
          </a:xfrm>
          <a:prstGeom prst="rect">
            <a:avLst/>
          </a:prstGeom>
          <a:solidFill>
            <a:srgbClr val="0D1225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916168" y="3749040"/>
            <a:ext cx="1216152" cy="29260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4A3B8"/>
                </a:solidFill>
              </a:rPr>
              <a:t>/execution-pkg</a:t>
            </a:r>
            <a:endParaRPr lang="en-US" sz="600" dirty="0"/>
          </a:p>
        </p:txBody>
      </p:sp>
      <p:sp>
        <p:nvSpPr>
          <p:cNvPr id="81" name="Shape 79"/>
          <p:cNvSpPr/>
          <p:nvPr/>
        </p:nvSpPr>
        <p:spPr>
          <a:xfrm>
            <a:off x="7223760" y="1463040"/>
            <a:ext cx="1399032" cy="274320"/>
          </a:xfrm>
          <a:prstGeom prst="rect">
            <a:avLst/>
          </a:prstGeom>
          <a:solidFill>
            <a:srgbClr val="94A3B8">
              <a:alpha val="80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7223760" y="1463040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SYSTEM</a:t>
            </a:r>
            <a:endParaRPr lang="en-US" sz="750" dirty="0"/>
          </a:p>
        </p:txBody>
      </p:sp>
      <p:sp>
        <p:nvSpPr>
          <p:cNvPr id="83" name="Shape 81"/>
          <p:cNvSpPr/>
          <p:nvPr/>
        </p:nvSpPr>
        <p:spPr>
          <a:xfrm>
            <a:off x="7923276" y="1325880"/>
            <a:ext cx="0" cy="137160"/>
          </a:xfrm>
          <a:prstGeom prst="line">
            <a:avLst/>
          </a:prstGeom>
          <a:noFill/>
          <a:ln w="8890">
            <a:solidFill>
              <a:srgbClr val="94A3B8"/>
            </a:solidFill>
            <a:prstDash val="sysDot"/>
          </a:ln>
        </p:spPr>
      </p:sp>
      <p:sp>
        <p:nvSpPr>
          <p:cNvPr id="84" name="Shape 82"/>
          <p:cNvSpPr/>
          <p:nvPr/>
        </p:nvSpPr>
        <p:spPr>
          <a:xfrm>
            <a:off x="7223760" y="1828800"/>
            <a:ext cx="1399032" cy="292608"/>
          </a:xfrm>
          <a:prstGeom prst="rect">
            <a:avLst/>
          </a:prstGeom>
          <a:solidFill>
            <a:srgbClr val="0D1225"/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7223760" y="1828800"/>
            <a:ext cx="1399032" cy="29260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/analytics</a:t>
            </a:r>
            <a:endParaRPr lang="en-US" sz="700" dirty="0"/>
          </a:p>
        </p:txBody>
      </p:sp>
      <p:sp>
        <p:nvSpPr>
          <p:cNvPr id="86" name="Shape 84"/>
          <p:cNvSpPr/>
          <p:nvPr/>
        </p:nvSpPr>
        <p:spPr>
          <a:xfrm>
            <a:off x="7223760" y="2212848"/>
            <a:ext cx="1399032" cy="292608"/>
          </a:xfrm>
          <a:prstGeom prst="rect">
            <a:avLst/>
          </a:prstGeom>
          <a:solidFill>
            <a:srgbClr val="0D1225"/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223760" y="2212848"/>
            <a:ext cx="1399032" cy="29260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/settings</a:t>
            </a:r>
            <a:endParaRPr lang="en-US" sz="700" dirty="0"/>
          </a:p>
        </p:txBody>
      </p:sp>
      <p:sp>
        <p:nvSpPr>
          <p:cNvPr id="88" name="Shape 86"/>
          <p:cNvSpPr/>
          <p:nvPr/>
        </p:nvSpPr>
        <p:spPr>
          <a:xfrm>
            <a:off x="7223760" y="2596896"/>
            <a:ext cx="1399032" cy="292608"/>
          </a:xfrm>
          <a:prstGeom prst="rect">
            <a:avLst/>
          </a:prstGeom>
          <a:solidFill>
            <a:srgbClr val="0D1225"/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223760" y="2596896"/>
            <a:ext cx="1399032" cy="29260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/billing</a:t>
            </a:r>
            <a:endParaRPr lang="en-US" sz="700" dirty="0"/>
          </a:p>
        </p:txBody>
      </p:sp>
      <p:sp>
        <p:nvSpPr>
          <p:cNvPr id="90" name="Shape 88"/>
          <p:cNvSpPr/>
          <p:nvPr/>
        </p:nvSpPr>
        <p:spPr>
          <a:xfrm>
            <a:off x="7223760" y="2980944"/>
            <a:ext cx="1399032" cy="292608"/>
          </a:xfrm>
          <a:prstGeom prst="rect">
            <a:avLst/>
          </a:prstGeom>
          <a:solidFill>
            <a:srgbClr val="0D1225"/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7223760" y="2980944"/>
            <a:ext cx="1399032" cy="29260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/templates</a:t>
            </a:r>
            <a:endParaRPr lang="en-US" sz="700" dirty="0"/>
          </a:p>
        </p:txBody>
      </p:sp>
      <p:sp>
        <p:nvSpPr>
          <p:cNvPr id="92" name="Shape 90"/>
          <p:cNvSpPr/>
          <p:nvPr/>
        </p:nvSpPr>
        <p:spPr>
          <a:xfrm>
            <a:off x="7223760" y="3364992"/>
            <a:ext cx="1399032" cy="292608"/>
          </a:xfrm>
          <a:prstGeom prst="rect">
            <a:avLst/>
          </a:prstGeom>
          <a:solidFill>
            <a:srgbClr val="0D1225"/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7223760" y="3364992"/>
            <a:ext cx="1399032" cy="29260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/sentinel</a:t>
            </a:r>
            <a:endParaRPr lang="en-US" sz="700" dirty="0"/>
          </a:p>
        </p:txBody>
      </p:sp>
      <p:sp>
        <p:nvSpPr>
          <p:cNvPr id="94" name="Shape 92"/>
          <p:cNvSpPr/>
          <p:nvPr/>
        </p:nvSpPr>
        <p:spPr>
          <a:xfrm>
            <a:off x="7223760" y="3749040"/>
            <a:ext cx="1399032" cy="292608"/>
          </a:xfrm>
          <a:prstGeom prst="rect">
            <a:avLst/>
          </a:prstGeom>
          <a:solidFill>
            <a:srgbClr val="0D1225"/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7223760" y="3749040"/>
            <a:ext cx="1399032" cy="29260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/vex</a:t>
            </a:r>
            <a:endParaRPr lang="en-US" sz="700" dirty="0"/>
          </a:p>
        </p:txBody>
      </p:sp>
      <p:sp>
        <p:nvSpPr>
          <p:cNvPr id="96" name="Shape 94"/>
          <p:cNvSpPr/>
          <p:nvPr/>
        </p:nvSpPr>
        <p:spPr>
          <a:xfrm>
            <a:off x="7223760" y="4133088"/>
            <a:ext cx="1399032" cy="292608"/>
          </a:xfrm>
          <a:prstGeom prst="rect">
            <a:avLst/>
          </a:prstGeom>
          <a:solidFill>
            <a:srgbClr val="0D1225"/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7223760" y="4133088"/>
            <a:ext cx="1399032" cy="29260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/admin</a:t>
            </a:r>
            <a:endParaRPr lang="en-US" sz="700" dirty="0"/>
          </a:p>
        </p:txBody>
      </p:sp>
      <p:sp>
        <p:nvSpPr>
          <p:cNvPr id="98" name="Shape 96"/>
          <p:cNvSpPr/>
          <p:nvPr/>
        </p:nvSpPr>
        <p:spPr>
          <a:xfrm>
            <a:off x="7223760" y="4517136"/>
            <a:ext cx="1399032" cy="292608"/>
          </a:xfrm>
          <a:prstGeom prst="rect">
            <a:avLst/>
          </a:prstGeom>
          <a:solidFill>
            <a:srgbClr val="0D1225"/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7223760" y="4517136"/>
            <a:ext cx="1399032" cy="29260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/share/[token]</a:t>
            </a:r>
            <a:endParaRPr lang="en-US" sz="700" dirty="0"/>
          </a:p>
        </p:txBody>
      </p:sp>
      <p:sp>
        <p:nvSpPr>
          <p:cNvPr id="100" name="Shape 98"/>
          <p:cNvSpPr/>
          <p:nvPr/>
        </p:nvSpPr>
        <p:spPr>
          <a:xfrm>
            <a:off x="928116" y="1325880"/>
            <a:ext cx="6995160" cy="0"/>
          </a:xfrm>
          <a:prstGeom prst="line">
            <a:avLst/>
          </a:prstGeom>
          <a:noFill/>
          <a:ln w="8890">
            <a:solidFill>
              <a:srgbClr val="475569"/>
            </a:solidFill>
            <a:prstDash val="sysDot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7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B5CF6"/>
                </a:solidFill>
              </a:rPr>
              <a:t>USER JOURNEY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Landing to Publishing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phases — a new user becomes a power user in one session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993392" y="2377440"/>
            <a:ext cx="128016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28800"/>
            <a:ext cx="1508760" cy="2880360"/>
          </a:xfrm>
          <a:prstGeom prst="rect">
            <a:avLst/>
          </a:prstGeom>
          <a:solidFill>
            <a:srgbClr val="0D1225"/>
          </a:solidFill>
          <a:ln w="19050">
            <a:solidFill>
              <a:srgbClr val="22D3EE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828800"/>
            <a:ext cx="1508760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78408" y="1965960"/>
            <a:ext cx="457200" cy="457200"/>
          </a:xfrm>
          <a:prstGeom prst="ellipse">
            <a:avLst/>
          </a:prstGeom>
          <a:solidFill>
            <a:srgbClr val="22D3EE">
              <a:alpha val="85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8408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25146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2944368"/>
            <a:ext cx="1143000" cy="0"/>
          </a:xfrm>
          <a:prstGeom prst="line">
            <a:avLst/>
          </a:prstGeom>
          <a:noFill/>
          <a:ln w="6350">
            <a:solidFill>
              <a:srgbClr val="4755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063240"/>
            <a:ext cx="1417320" cy="1463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Landing Page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/demo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0" y="2377440"/>
            <a:ext cx="128016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21408" y="1828800"/>
            <a:ext cx="1508760" cy="2880360"/>
          </a:xfrm>
          <a:prstGeom prst="rect">
            <a:avLst/>
          </a:prstGeom>
          <a:solidFill>
            <a:srgbClr val="0D1225"/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121408" y="1828800"/>
            <a:ext cx="150876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42616" y="1965960"/>
            <a:ext cx="457200" cy="457200"/>
          </a:xfrm>
          <a:prstGeom prst="ellipse">
            <a:avLst/>
          </a:prstGeom>
          <a:solidFill>
            <a:srgbClr val="8B5CF6">
              <a:alpha val="85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42616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5CF6"/>
                </a:solidFill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121408" y="25146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304288" y="2944368"/>
            <a:ext cx="1143000" cy="0"/>
          </a:xfrm>
          <a:prstGeom prst="line">
            <a:avLst/>
          </a:prstGeom>
          <a:noFill/>
          <a:ln w="6350">
            <a:solidFill>
              <a:srgbClr val="4755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67128" y="3063240"/>
            <a:ext cx="1417320" cy="1463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/auth/register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/onboarding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/start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321808" y="2377440"/>
            <a:ext cx="128016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785616" y="1828800"/>
            <a:ext cx="1508760" cy="2880360"/>
          </a:xfrm>
          <a:prstGeom prst="rect">
            <a:avLst/>
          </a:prstGeom>
          <a:solidFill>
            <a:srgbClr val="0D1225"/>
          </a:solidFill>
          <a:ln w="19050">
            <a:solidFill>
              <a:srgbClr val="F97316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785616" y="1828800"/>
            <a:ext cx="150876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06824" y="1965960"/>
            <a:ext cx="457200" cy="457200"/>
          </a:xfrm>
          <a:prstGeom prst="ellipse">
            <a:avLst/>
          </a:prstGeom>
          <a:solidFill>
            <a:srgbClr val="F97316">
              <a:alpha val="85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06824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7316"/>
                </a:solidFill>
              </a:rPr>
              <a:t>3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785616" y="25146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Setup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968496" y="2944368"/>
            <a:ext cx="1143000" cy="0"/>
          </a:xfrm>
          <a:prstGeom prst="line">
            <a:avLst/>
          </a:prstGeom>
          <a:noFill/>
          <a:ln w="6350">
            <a:solidFill>
              <a:srgbClr val="47556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31336" y="3063240"/>
            <a:ext cx="1417320" cy="1463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/brand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Brain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986016" y="2377440"/>
            <a:ext cx="128016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49824" y="1828800"/>
            <a:ext cx="1508760" cy="2880360"/>
          </a:xfrm>
          <a:prstGeom prst="rect">
            <a:avLst/>
          </a:prstGeom>
          <a:solidFill>
            <a:srgbClr val="0D1225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449824" y="1828800"/>
            <a:ext cx="150876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71032" y="1965960"/>
            <a:ext cx="457200" cy="457200"/>
          </a:xfrm>
          <a:prstGeom prst="ellipse">
            <a:avLst/>
          </a:prstGeom>
          <a:solidFill>
            <a:srgbClr val="10B981">
              <a:alpha val="8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71032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4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449824" y="25146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Campaign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5632704" y="2944368"/>
            <a:ext cx="1143000" cy="0"/>
          </a:xfrm>
          <a:prstGeom prst="line">
            <a:avLst/>
          </a:prstGeom>
          <a:noFill/>
          <a:ln w="6350">
            <a:solidFill>
              <a:srgbClr val="47556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95544" y="3063240"/>
            <a:ext cx="1417320" cy="1463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/strategy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/campaigns/new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generation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114032" y="1828800"/>
            <a:ext cx="1508760" cy="2880360"/>
          </a:xfrm>
          <a:prstGeom prst="rect">
            <a:avLst/>
          </a:prstGeom>
          <a:solidFill>
            <a:srgbClr val="0D1225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7114032" y="1828800"/>
            <a:ext cx="1508760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635240" y="1965960"/>
            <a:ext cx="457200" cy="457200"/>
          </a:xfrm>
          <a:prstGeom prst="ellipse">
            <a:avLst/>
          </a:prstGeom>
          <a:solidFill>
            <a:srgbClr val="A78BFA">
              <a:alpha val="8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6352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78BFA"/>
                </a:solidFill>
              </a:rPr>
              <a:t>5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114032" y="25146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7296912" y="2944368"/>
            <a:ext cx="1143000" cy="0"/>
          </a:xfrm>
          <a:prstGeom prst="line">
            <a:avLst/>
          </a:prstGeom>
          <a:noFill/>
          <a:ln w="6350">
            <a:solidFill>
              <a:srgbClr val="47556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159752" y="3063240"/>
            <a:ext cx="1417320" cy="1463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/calendar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/connections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Auto-publish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time: 15 minutes from zero to 30 scheduled posts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7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97316"/>
                </a:solidFill>
              </a:rPr>
              <a:t>AUTH &amp; ONBOARDING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Onboarding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Auth — secure, seamless, bilingual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3840480" cy="3200400"/>
          </a:xfrm>
          <a:prstGeom prst="rect">
            <a:avLst/>
          </a:prstGeom>
          <a:solidFill>
            <a:srgbClr val="0D1225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737360"/>
            <a:ext cx="384048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8288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Routes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240280"/>
            <a:ext cx="3474720" cy="502920"/>
          </a:xfrm>
          <a:prstGeom prst="rect">
            <a:avLst/>
          </a:prstGeom>
          <a:solidFill>
            <a:srgbClr val="0F172A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27685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</a:rPr>
              <a:t>/auth/login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246888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Email/password + social auth (Supabase)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40080" y="2880360"/>
            <a:ext cx="3474720" cy="502920"/>
          </a:xfrm>
          <a:prstGeom prst="rect">
            <a:avLst/>
          </a:prstGeom>
          <a:solidFill>
            <a:srgbClr val="0F172A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91693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</a:rPr>
              <a:t>/auth/register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7240" y="310896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New account — triggers welcome email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40080" y="3520440"/>
            <a:ext cx="3474720" cy="502920"/>
          </a:xfrm>
          <a:prstGeom prst="rect">
            <a:avLst/>
          </a:prstGeom>
          <a:solidFill>
            <a:srgbClr val="0F172A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55701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</a:rPr>
              <a:t>/auth/forgot-password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77240" y="37490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Send reset email via Supabase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40080" y="4160520"/>
            <a:ext cx="3474720" cy="502920"/>
          </a:xfrm>
          <a:prstGeom prst="rect">
            <a:avLst/>
          </a:prstGeom>
          <a:solidFill>
            <a:srgbClr val="0F172A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19709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</a:rPr>
              <a:t>/auth/reset-password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77240" y="43891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Token-based password reset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846320" y="1737360"/>
            <a:ext cx="3840480" cy="3200400"/>
          </a:xfrm>
          <a:prstGeom prst="rect">
            <a:avLst/>
          </a:prstGeom>
          <a:solidFill>
            <a:srgbClr val="0D1225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1737360"/>
            <a:ext cx="384048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0" y="18288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Flow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029200" y="2359152"/>
            <a:ext cx="256032" cy="256032"/>
          </a:xfrm>
          <a:prstGeom prst="ellipse">
            <a:avLst/>
          </a:prstGeom>
          <a:solidFill>
            <a:srgbClr val="22D3EE">
              <a:alpha val="80000"/>
            </a:srgbClr>
          </a:solidFill>
          <a:ln w="10160">
            <a:solidFill>
              <a:srgbClr val="22D3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0" y="23591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D3EE"/>
                </a:solidFill>
              </a:rPr>
              <a:t>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376672" y="2276856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/start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376672" y="245973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Business briefing form — company info, goals, audience, budget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029200" y="2999232"/>
            <a:ext cx="256032" cy="256032"/>
          </a:xfrm>
          <a:prstGeom prst="ellipse">
            <a:avLst/>
          </a:prstGeom>
          <a:solidFill>
            <a:srgbClr val="8B5CF6">
              <a:alpha val="80000"/>
            </a:srgbClr>
          </a:solidFill>
          <a:ln w="10160">
            <a:solidFill>
              <a:srgbClr val="8B5C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0" y="29992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5CF6"/>
                </a:solidFill>
              </a:rPr>
              <a:t>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376672" y="2916936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AI Runs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376672" y="309981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Full Agency Orchestrator: Strategist + Content Director agents fire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029200" y="3639312"/>
            <a:ext cx="256032" cy="256032"/>
          </a:xfrm>
          <a:prstGeom prst="ellipse">
            <a:avLst/>
          </a:prstGeom>
          <a:solidFill>
            <a:srgbClr val="10B981">
              <a:alpha val="80000"/>
            </a:srgbClr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0" y="36393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3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376672" y="3557016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/dashboard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376672" y="373989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User lands on the main command center with first campaign ready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029200" y="4279392"/>
            <a:ext cx="256032" cy="256032"/>
          </a:xfrm>
          <a:prstGeom prst="ellipse">
            <a:avLst/>
          </a:prstGeom>
          <a:solidFill>
            <a:srgbClr val="F97316">
              <a:alpha val="80000"/>
            </a:srgbClr>
          </a:solidFill>
          <a:ln w="10160">
            <a:solidFill>
              <a:srgbClr val="F9731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0" y="42793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7316"/>
                </a:solidFill>
              </a:rPr>
              <a:t>4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376672" y="4197096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/brand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376672" y="437997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Brand Brain auto-populated — user can refine anytime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7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B5CF6"/>
                </a:solidFill>
              </a:rPr>
              <a:t>DASHBOARD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/dashboard — Command Center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 hub — always alive, always showing the next action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2651760" cy="1234440"/>
          </a:xfrm>
          <a:prstGeom prst="rect">
            <a:avLst/>
          </a:prstGeom>
          <a:solidFill>
            <a:srgbClr val="0D1225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874520"/>
            <a:ext cx="54864" cy="12344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9659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Campaigns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21792" y="2276856"/>
            <a:ext cx="23957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status of all campaigns — Draft, Active, Completed. Quick access to any campaign.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64408" y="1874520"/>
            <a:ext cx="2651760" cy="1234440"/>
          </a:xfrm>
          <a:prstGeom prst="rect">
            <a:avLst/>
          </a:prstGeom>
          <a:solidFill>
            <a:srgbClr val="0D1225"/>
          </a:solidFill>
          <a:ln w="12700">
            <a:solidFill>
              <a:srgbClr val="22D3EE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64408" y="1874520"/>
            <a:ext cx="54864" cy="12344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9000" y="19659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Credits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29000" y="2276856"/>
            <a:ext cx="23957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gauge shows remaining credits. Upgrade CTA appears naturally when credits are low.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071616" y="1874520"/>
            <a:ext cx="2651760" cy="1234440"/>
          </a:xfrm>
          <a:prstGeom prst="rect">
            <a:avLst/>
          </a:prstGeom>
          <a:solidFill>
            <a:srgbClr val="0D1225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71616" y="1874520"/>
            <a:ext cx="54864" cy="1234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36208" y="19659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Suggestions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36208" y="2276856"/>
            <a:ext cx="23957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NEXUS, NEX, VEX, SENTINEL push suggestions here. Accept, ignore, or act in one click.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57200" y="3291840"/>
            <a:ext cx="2651760" cy="1234440"/>
          </a:xfrm>
          <a:prstGeom prst="rect">
            <a:avLst/>
          </a:prstGeom>
          <a:solidFill>
            <a:srgbClr val="0D1225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291840"/>
            <a:ext cx="54864" cy="12344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" y="3383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Activity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1792" y="3694176"/>
            <a:ext cx="23957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Chronological log of all actions — generations, approvals, publishes, brand updates.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264408" y="3291840"/>
            <a:ext cx="2651760" cy="1234440"/>
          </a:xfrm>
          <a:prstGeom prst="rect">
            <a:avLst/>
          </a:prstGeom>
          <a:solidFill>
            <a:srgbClr val="0D1225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64408" y="3291840"/>
            <a:ext cx="54864" cy="12344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29000" y="3383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Actions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429000" y="3694176"/>
            <a:ext cx="23957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Full Strategy, New Campaign, Brand Brain — primary actions always one click away.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071616" y="3291840"/>
            <a:ext cx="2651760" cy="1234440"/>
          </a:xfrm>
          <a:prstGeom prst="rect">
            <a:avLst/>
          </a:prstGeom>
          <a:solidFill>
            <a:srgbClr val="0D1225"/>
          </a:solidFill>
          <a:ln w="12700">
            <a:solidFill>
              <a:srgbClr val="22D3EE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71616" y="3291840"/>
            <a:ext cx="54864" cy="12344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36208" y="3383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Snapshot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36208" y="3694176"/>
            <a:ext cx="23957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count, posts generated, credits used — live numbers without going to /analytics.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7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B5CF6"/>
                </a:solidFill>
              </a:rPr>
              <a:t>BRAND BRAIN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/brand — The AI Memory of Your Brand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 brand memory injected into every agent, every post, every campaign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3200400" cy="3200400"/>
          </a:xfrm>
          <a:prstGeom prst="rect">
            <a:avLst/>
          </a:prstGeom>
          <a:solidFill>
            <a:srgbClr val="0D1225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8288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28346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source of brand truth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Auto-populated during onboarding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automatically after each campaign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Injected into all 4 AI agents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(Arabic &amp; English)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field suggestions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upload via Cloudinary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score system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840480" y="1737360"/>
            <a:ext cx="2377440" cy="914400"/>
          </a:xfrm>
          <a:prstGeom prst="rect">
            <a:avLst/>
          </a:prstGeom>
          <a:solidFill>
            <a:srgbClr val="0D1225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950208" y="18288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Identity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950208" y="2121408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tagline, category, industry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355080" y="1737360"/>
            <a:ext cx="2377440" cy="914400"/>
          </a:xfrm>
          <a:prstGeom prst="rect">
            <a:avLst/>
          </a:prstGeom>
          <a:solidFill>
            <a:srgbClr val="0D1225"/>
          </a:solidFill>
          <a:ln w="12700">
            <a:solidFill>
              <a:srgbClr val="22D3EE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64808" y="18288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&amp; Tone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64808" y="2121408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your brand speaks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840480" y="2807208"/>
            <a:ext cx="2377440" cy="914400"/>
          </a:xfrm>
          <a:prstGeom prst="rect">
            <a:avLst/>
          </a:prstGeom>
          <a:solidFill>
            <a:srgbClr val="0D1225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950208" y="289864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Audience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950208" y="3191256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Demographics, pain points, desires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355080" y="2807208"/>
            <a:ext cx="2377440" cy="914400"/>
          </a:xfrm>
          <a:prstGeom prst="rect">
            <a:avLst/>
          </a:prstGeom>
          <a:solidFill>
            <a:srgbClr val="0D1225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64808" y="289864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64808" y="3191256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you're positioning against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840480" y="3877056"/>
            <a:ext cx="2377440" cy="914400"/>
          </a:xfrm>
          <a:prstGeom prst="rect">
            <a:avLst/>
          </a:prstGeom>
          <a:solidFill>
            <a:srgbClr val="0D1225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950208" y="396849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Value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950208" y="4261104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customers choose you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355080" y="3877056"/>
            <a:ext cx="2377440" cy="914400"/>
          </a:xfrm>
          <a:prstGeom prst="rect">
            <a:avLst/>
          </a:prstGeom>
          <a:solidFill>
            <a:srgbClr val="0D1225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464808" y="396849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Winning Hooks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64808" y="4261104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hooks &amp; CTAs that convert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7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0B981"/>
                </a:solidFill>
              </a:rPr>
              <a:t>CAMPAIGNS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Architecture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campaign is a full workspace — strategy → content → publish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3840480" cy="1005840"/>
          </a:xfrm>
          <a:prstGeom prst="rect">
            <a:avLst/>
          </a:prstGeom>
          <a:solidFill>
            <a:srgbClr val="0D1225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8105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/campaigns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list with status, platform icons, quick actions. One workspace per campaign.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846320" y="1737360"/>
            <a:ext cx="3840480" cy="1005840"/>
          </a:xfrm>
          <a:prstGeom prst="rect">
            <a:avLst/>
          </a:prstGeom>
          <a:solidFill>
            <a:srgbClr val="0D1225"/>
          </a:solidFill>
          <a:ln w="12700">
            <a:solidFill>
              <a:srgbClr val="22D3EE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0" y="18105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/campaigns/new — New Campaign Wizard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0" y="21031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goal, tone, platforms, audience — then AI generates strategy + content automatically.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/campaigns/[id] — Sub-pages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291840"/>
            <a:ext cx="2651760" cy="713232"/>
          </a:xfrm>
          <a:prstGeom prst="rect">
            <a:avLst/>
          </a:prstGeom>
          <a:solidFill>
            <a:srgbClr val="0D1225"/>
          </a:solidFill>
          <a:ln w="1016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34670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/campaigns/[id]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48640" y="358444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Overview: strategy, AI output, metrics, agent suggestions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264408" y="3291840"/>
            <a:ext cx="2651760" cy="713232"/>
          </a:xfrm>
          <a:prstGeom prst="rect">
            <a:avLst/>
          </a:prstGeom>
          <a:solidFill>
            <a:srgbClr val="0D1225"/>
          </a:solidFill>
          <a:ln w="10160">
            <a:solidFill>
              <a:srgbClr val="22D3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55848" y="334670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/content-hub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355848" y="358444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AI-generated posts with edit, rewrite, approve, schedule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071616" y="3291840"/>
            <a:ext cx="2651760" cy="713232"/>
          </a:xfrm>
          <a:prstGeom prst="rect">
            <a:avLst/>
          </a:prstGeom>
          <a:solidFill>
            <a:srgbClr val="0D1225"/>
          </a:solidFill>
          <a:ln w="10160">
            <a:solidFill>
              <a:srgbClr val="F973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63056" y="334670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/creative-brief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163056" y="358444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brand + campaign brief document for teams/agencies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57200" y="4114800"/>
            <a:ext cx="2651760" cy="713232"/>
          </a:xfrm>
          <a:prstGeom prst="rect">
            <a:avLst/>
          </a:prstGeom>
          <a:solidFill>
            <a:srgbClr val="0D1225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16966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/paid-launch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48640" y="440740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VEX paid campaign: ad copy, targeting, UTM tracking, ROI plan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264408" y="4114800"/>
            <a:ext cx="2651760" cy="713232"/>
          </a:xfrm>
          <a:prstGeom prst="rect">
            <a:avLst/>
          </a:prstGeom>
          <a:solidFill>
            <a:srgbClr val="0D1225"/>
          </a:solidFill>
          <a:ln w="10160">
            <a:solidFill>
              <a:srgbClr val="A78B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55848" y="416966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/content-pack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355848" y="440740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Downloadable content kit: captions, hooks, images, scripts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071616" y="4114800"/>
            <a:ext cx="2651760" cy="713232"/>
          </a:xfrm>
          <a:prstGeom prst="rect">
            <a:avLst/>
          </a:prstGeom>
          <a:solidFill>
            <a:srgbClr val="0D1225"/>
          </a:solidFill>
          <a:ln w="10160">
            <a:solidFill>
              <a:srgbClr val="EF44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63056" y="416966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/execution-package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163056" y="440740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campaign execution plan with timeline and platform guides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07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B5CF6"/>
                </a:solidFill>
              </a:rPr>
              <a:t>AI ENGINE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&amp; Agent System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/strategy + /agency + /vex + /sentinel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3657600" cy="1371600"/>
          </a:xfrm>
          <a:prstGeom prst="rect">
            <a:avLst/>
          </a:prstGeom>
          <a:solidFill>
            <a:srgbClr val="0D1225"/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737360"/>
            <a:ext cx="3657600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8288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/strategy — AI Strategy Runner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176272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full strategy generation from Brand Brain. Goal selector, budget input, language toggle. Outputs: positioning, hooks, CTAs, content pillars, calendar.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0" y="1737360"/>
            <a:ext cx="4114800" cy="1371600"/>
          </a:xfrm>
          <a:prstGeom prst="rect">
            <a:avLst/>
          </a:prstGeom>
          <a:solidFill>
            <a:srgbClr val="0D1225"/>
          </a:solidFill>
          <a:ln w="19050">
            <a:solidFill>
              <a:srgbClr val="22D3EE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1737360"/>
            <a:ext cx="4114800" cy="6400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8288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/agency — Agent Orchestrator Dashboard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0" y="217627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all 4 agents together. See agent history, reports, suggestions. Accept or dismiss AI-generated recommendations for campaigns.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3246120"/>
            <a:ext cx="8229600" cy="365760"/>
          </a:xfrm>
          <a:prstGeom prst="rect">
            <a:avLst/>
          </a:prstGeom>
          <a:solidFill>
            <a:srgbClr val="0D1225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246120"/>
            <a:ext cx="54864" cy="3657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31927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737360" y="331927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[orchestrator.ts]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383280" y="3319272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Strategist — positioning, hooks, content calendar, campaign planning via GPT-4o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3685032"/>
            <a:ext cx="8229600" cy="365760"/>
          </a:xfrm>
          <a:prstGeom prst="rect">
            <a:avLst/>
          </a:prstGeom>
          <a:solidFill>
            <a:srgbClr val="0D1225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685032"/>
            <a:ext cx="54864" cy="3657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75818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737360" y="375818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[content-director.ts]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383280" y="3758184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Writer — 30 platform-native posts per campaign, brand voice injection, A/B rewrites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4123944"/>
            <a:ext cx="8229600" cy="365760"/>
          </a:xfrm>
          <a:prstGeom prst="rect">
            <a:avLst/>
          </a:prstGeom>
          <a:solidFill>
            <a:srgbClr val="0D1225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4123944"/>
            <a:ext cx="54864" cy="3657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19709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VEX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737360" y="4197096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[/vex page]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383280" y="4197096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Campaign Director — audience targeting, ad copy variants, UTM tracking, ROI analysis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4562856"/>
            <a:ext cx="8229600" cy="365760"/>
          </a:xfrm>
          <a:prstGeom prst="rect">
            <a:avLst/>
          </a:prstGeom>
          <a:solidFill>
            <a:srgbClr val="0D1225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4562856"/>
            <a:ext cx="54864" cy="365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463600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737360" y="463600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[/sentinel page]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383280" y="4636008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Monitor — competitive analysis, campaign review, pre-launch readiness report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07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2D3EE"/>
                </a:solidFill>
              </a:rPr>
              <a:t>CONTENT &amp; SCHEDULING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Hub, Calendar &amp; Scheduling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generation to scheduled publish — all in one system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2651760" cy="3200400"/>
          </a:xfrm>
          <a:prstGeom prst="rect">
            <a:avLst/>
          </a:prstGeom>
          <a:solidFill>
            <a:srgbClr val="0D1225"/>
          </a:solidFill>
          <a:ln w="19050">
            <a:solidFill>
              <a:srgbClr val="22D3EE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737360"/>
            <a:ext cx="2651760" cy="6400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8288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/content-hub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2267712"/>
            <a:ext cx="2377440" cy="0"/>
          </a:xfrm>
          <a:prstGeom prst="line">
            <a:avLst/>
          </a:prstGeom>
          <a:noFill/>
          <a:ln w="6350">
            <a:solidFill>
              <a:srgbClr val="4755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359152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Global view of all generated posts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Filter by campaign, platform, status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Approve, edit, or rewrite any post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One-click push to calendar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91840" y="1737360"/>
            <a:ext cx="2651760" cy="3200400"/>
          </a:xfrm>
          <a:prstGeom prst="rect">
            <a:avLst/>
          </a:prstGeom>
          <a:solidFill>
            <a:srgbClr val="0D1225"/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737360"/>
            <a:ext cx="2651760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18288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/calendar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429000" y="2267712"/>
            <a:ext cx="2377440" cy="0"/>
          </a:xfrm>
          <a:prstGeom prst="line">
            <a:avLst/>
          </a:prstGeom>
          <a:noFill/>
          <a:ln w="6350">
            <a:solidFill>
              <a:srgbClr val="4755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9000" y="2359152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Visual content calendar (monthly)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Drag-and-drop scheduling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See all platforms in one view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Connected to auto-publish queue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35040" y="1737360"/>
            <a:ext cx="2651760" cy="3200400"/>
          </a:xfrm>
          <a:prstGeom prst="rect">
            <a:avLst/>
          </a:prstGeom>
          <a:solidFill>
            <a:srgbClr val="0D1225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1737360"/>
            <a:ext cx="265176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18288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/schedule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172200" y="2267712"/>
            <a:ext cx="2377440" cy="0"/>
          </a:xfrm>
          <a:prstGeom prst="line">
            <a:avLst/>
          </a:prstGeom>
          <a:noFill/>
          <a:ln w="6350">
            <a:solidFill>
              <a:srgbClr val="4755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72200" y="2359152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Scheduled posts queue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Time slot management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Platform-specific scheduling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Cancel or reschedule any post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7200" y="50749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Auto-Publish Flow: Approved Post → Schedule Queue → Platform API → Live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07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0B981"/>
                </a:solidFill>
              </a:rPr>
              <a:t>ANALYTICS, MEDIA &amp; CONNECTIONS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Infrastructure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· Media Library · Social Connections · Imports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4023360" cy="1417320"/>
          </a:xfrm>
          <a:prstGeom prst="rect">
            <a:avLst/>
          </a:prstGeom>
          <a:solidFill>
            <a:srgbClr val="0D1225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828800"/>
            <a:ext cx="402336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9202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/analytics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6928" y="2267712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performance overview, credit usage, ROI dashboard, activity timeline, AI quality scores per generation.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663440" y="1828800"/>
            <a:ext cx="4023360" cy="1417320"/>
          </a:xfrm>
          <a:prstGeom prst="rect">
            <a:avLst/>
          </a:prstGeom>
          <a:solidFill>
            <a:srgbClr val="0D1225"/>
          </a:solidFill>
          <a:ln w="12700">
            <a:solidFill>
              <a:srgbClr val="22D3EE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828800"/>
            <a:ext cx="4023360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3168" y="19202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/connections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73168" y="2267712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Meta (Facebook/Instagram), LinkedIn, TikTok via OAuth. Manage tokens, test connections, view publishing history.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3429000"/>
            <a:ext cx="2606040" cy="1417320"/>
          </a:xfrm>
          <a:prstGeom prst="rect">
            <a:avLst/>
          </a:prstGeom>
          <a:solidFill>
            <a:srgbClr val="0D1225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429000"/>
            <a:ext cx="260604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352044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/media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66928" y="3867912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Cloudinary-powered media library. Upload logos, images, videos. Organized by workspace. Used in campaign visuals.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46120" y="3429000"/>
            <a:ext cx="2606040" cy="1417320"/>
          </a:xfrm>
          <a:prstGeom prst="rect">
            <a:avLst/>
          </a:prstGeom>
          <a:solidFill>
            <a:srgbClr val="0D1225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46120" y="3429000"/>
            <a:ext cx="260604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55848" y="352044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/imports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355848" y="3867912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existing content — CSV/bulk import of posts, past campaign data. Seed Brand Brain from existing assets.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035040" y="3429000"/>
            <a:ext cx="2651760" cy="1417320"/>
          </a:xfrm>
          <a:prstGeom prst="rect">
            <a:avLst/>
          </a:prstGeom>
          <a:solidFill>
            <a:srgbClr val="0D1225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35040" y="3429000"/>
            <a:ext cx="2651760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44768" y="352044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/templates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144768" y="3867912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Pre-built campaign templates for common goals: product launch, Ramadan campaign, awareness, lead gen.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07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97316"/>
                </a:solidFill>
              </a:rPr>
              <a:t>SETTINGS, BILLING &amp; ADMIN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Management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/settings · /billing · /admin · /share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1920240" cy="2926080"/>
          </a:xfrm>
          <a:prstGeom prst="rect">
            <a:avLst/>
          </a:prstGeom>
          <a:solidFill>
            <a:srgbClr val="0D1225"/>
          </a:solidFill>
          <a:ln w="15240">
            <a:solidFill>
              <a:srgbClr val="F97316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874520"/>
            <a:ext cx="192024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9659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/settings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2377440"/>
            <a:ext cx="1645920" cy="0"/>
          </a:xfrm>
          <a:prstGeom prst="line">
            <a:avLst/>
          </a:prstGeom>
          <a:noFill/>
          <a:ln w="6350">
            <a:solidFill>
              <a:srgbClr val="47556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2587752"/>
            <a:ext cx="91440" cy="914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51460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name, email, avatar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94360" y="2953512"/>
            <a:ext cx="91440" cy="914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88036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preference (AR/EN)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94360" y="3319272"/>
            <a:ext cx="91440" cy="914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24612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settings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94360" y="3685032"/>
            <a:ext cx="91440" cy="914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61188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change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94360" y="4050792"/>
            <a:ext cx="91440" cy="914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9776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deletion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4416552"/>
            <a:ext cx="91440" cy="914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434340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preferences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542032" y="1874520"/>
            <a:ext cx="1920240" cy="2926080"/>
          </a:xfrm>
          <a:prstGeom prst="rect">
            <a:avLst/>
          </a:prstGeom>
          <a:solidFill>
            <a:srgbClr val="0D1225"/>
          </a:solidFill>
          <a:ln w="15240">
            <a:solidFill>
              <a:srgbClr val="22D3EE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542032" y="1874520"/>
            <a:ext cx="1920240" cy="6400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42032" y="19659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/billing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679192" y="2377440"/>
            <a:ext cx="1645920" cy="0"/>
          </a:xfrm>
          <a:prstGeom prst="line">
            <a:avLst/>
          </a:prstGeom>
          <a:noFill/>
          <a:ln w="6350">
            <a:solidFill>
              <a:srgbClr val="47556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679192" y="2587752"/>
            <a:ext cx="91440" cy="9144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16352" y="251460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plan display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679192" y="2953512"/>
            <a:ext cx="91440" cy="9144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16352" y="288036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/ downgrade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679192" y="3319272"/>
            <a:ext cx="91440" cy="9144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816352" y="324612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checkout integration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679192" y="3685032"/>
            <a:ext cx="91440" cy="9144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816352" y="361188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portal (Stripe)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679192" y="4050792"/>
            <a:ext cx="91440" cy="9144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816352" y="39776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balance &amp; history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679192" y="4416552"/>
            <a:ext cx="91440" cy="9144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816352" y="434340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access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626864" y="1874520"/>
            <a:ext cx="1920240" cy="2926080"/>
          </a:xfrm>
          <a:prstGeom prst="rect">
            <a:avLst/>
          </a:prstGeom>
          <a:solidFill>
            <a:srgbClr val="0D1225"/>
          </a:solidFill>
          <a:ln w="15240">
            <a:solidFill>
              <a:srgbClr val="10B981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626864" y="1874520"/>
            <a:ext cx="192024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26864" y="19659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Plans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764024" y="2377440"/>
            <a:ext cx="1645920" cy="0"/>
          </a:xfrm>
          <a:prstGeom prst="line">
            <a:avLst/>
          </a:prstGeom>
          <a:noFill/>
          <a:ln w="6350">
            <a:solidFill>
              <a:srgbClr val="47556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64024" y="2587752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01184" y="251460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Free: 20 AI credits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764024" y="2953512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01184" y="288036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Pro: $79/mo — 300 credits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764024" y="3319272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01184" y="324612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Business: $199/mo — 1,000 credits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764024" y="3685032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901184" y="361188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webhooks: plan sync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764024" y="4050792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01184" y="39776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Credits reset monthly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4764024" y="4416552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901184" y="434340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system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6711696" y="1874520"/>
            <a:ext cx="1920240" cy="2926080"/>
          </a:xfrm>
          <a:prstGeom prst="rect">
            <a:avLst/>
          </a:prstGeom>
          <a:solidFill>
            <a:srgbClr val="0D1225"/>
          </a:solidFill>
          <a:ln w="15240">
            <a:solidFill>
              <a:srgbClr val="EF4444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6711696" y="1874520"/>
            <a:ext cx="192024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711696" y="19659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/admin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6848856" y="2377440"/>
            <a:ext cx="1645920" cy="0"/>
          </a:xfrm>
          <a:prstGeom prst="line">
            <a:avLst/>
          </a:prstGeom>
          <a:noFill/>
          <a:ln w="6350">
            <a:solidFill>
              <a:srgbClr val="475569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848856" y="2587752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986016" y="251460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management panel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6848856" y="2953512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986016" y="288036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adjustment tools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6848856" y="3319272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986016" y="324612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reset functionality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6848856" y="3685032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986016" y="361188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monitoring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6848856" y="4050792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986016" y="39776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users list view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6848856" y="4416552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986016" y="434340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Admin-only access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607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2D3EE"/>
                </a:solidFill>
              </a:rPr>
              <a:t>API 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 Routes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RESTful Next.js App Router APIs — grouped by domain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4023360" cy="1554480"/>
          </a:xfrm>
          <a:prstGeom prst="rect">
            <a:avLst/>
          </a:prstGeom>
          <a:solidFill>
            <a:srgbClr val="0D1225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783080"/>
            <a:ext cx="402336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874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/api/campaigns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219456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GET/POST /campaigns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GET/PATCH/DELETE /campaigns/[id]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/[id]/content-plan — generate, edit, approve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/[id]/paid-pack — VEX campaign pack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/[id]/sentinel-review — AI review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/[id]/share, /[id]/push-to-calendar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800600" y="1783080"/>
            <a:ext cx="4023360" cy="1554480"/>
          </a:xfrm>
          <a:prstGeom prst="rect">
            <a:avLst/>
          </a:prstGeom>
          <a:solidFill>
            <a:srgbClr val="0D1225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783080"/>
            <a:ext cx="4023360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874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/api/ai &amp; /api/strategy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37760" y="219456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/api/generate — strategy + ad concepts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/api/strategy/run-full — full agency run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/api/ai/generate — content generation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/api/agents/run — orchestrator trigger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/api/agents/suggestions — agent queue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/api/demo/generate — public demo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57200" y="3474720"/>
            <a:ext cx="4023360" cy="1554480"/>
          </a:xfrm>
          <a:prstGeom prst="rect">
            <a:avLst/>
          </a:prstGeom>
          <a:solidFill>
            <a:srgbClr val="0D1225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474720"/>
            <a:ext cx="402336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566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/api/social &amp; /api/billing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388620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/social/connect/{meta,linkedin,tiktok}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/social/callback/{platform} — OAuth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/social/publish — auto-publish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/billing/checkout — Stripe session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/billing/webhook — Stripe events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/billing/portal — customer portal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800600" y="3474720"/>
            <a:ext cx="4023360" cy="1554480"/>
          </a:xfrm>
          <a:prstGeom prst="rect">
            <a:avLst/>
          </a:prstGeom>
          <a:solidFill>
            <a:srgbClr val="0D1225"/>
          </a:solidFill>
          <a:ln w="12700">
            <a:solidFill>
              <a:srgbClr val="22D3EE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00600" y="3474720"/>
            <a:ext cx="4023360" cy="6400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3566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/api/uploads &amp; /api/media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37760" y="388620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/uploads/cloudinary/signature — signed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/uploads/cloudinary/notify — webhook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/media — CRUD media library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/api/brand — Brand Brain CRUD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/api/exports — PDF/DOCX export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/api/cron — scheduled jobs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607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B5CF6"/>
                </a:solidFill>
              </a:rPr>
              <a:t>TECHNOLOGY STACK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Stack Architecture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Lean, scalable, production-grade — built for startup economics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4023360" cy="1554480"/>
          </a:xfrm>
          <a:prstGeom prst="rect">
            <a:avLst/>
          </a:prstGeom>
          <a:solidFill>
            <a:srgbClr val="0D1225"/>
          </a:solidFill>
          <a:ln w="15240">
            <a:solidFill>
              <a:srgbClr val="22D3EE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783080"/>
            <a:ext cx="4023360" cy="6400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874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2221992"/>
            <a:ext cx="37490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 (App Router)  ·  TypeScript  ·  Tailwind CSS  ·  Framer Motion  ·  Lucide React  ·  Bilingual (AR/EN) with RTL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800600" y="1783080"/>
            <a:ext cx="4023360" cy="1554480"/>
          </a:xfrm>
          <a:prstGeom prst="rect">
            <a:avLst/>
          </a:prstGeom>
          <a:solidFill>
            <a:srgbClr val="0D1225"/>
          </a:solidFill>
          <a:ln w="15240">
            <a:solidFill>
              <a:srgbClr val="8B5CF6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783080"/>
            <a:ext cx="4023360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874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/ APIs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37760" y="2221992"/>
            <a:ext cx="37490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API Routes  ·  Prisma ORM  ·  Rate limiting (DB-backed)  ·  JWT / Supabase Auth  ·  Credit system  ·  Campaign Memory system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3474720"/>
            <a:ext cx="4023360" cy="1554480"/>
          </a:xfrm>
          <a:prstGeom prst="rect">
            <a:avLst/>
          </a:prstGeom>
          <a:solidFill>
            <a:srgbClr val="0D1225"/>
          </a:solidFill>
          <a:ln w="15240">
            <a:solidFill>
              <a:srgbClr val="F97316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474720"/>
            <a:ext cx="402336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566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Agents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" y="3913632"/>
            <a:ext cx="37490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GPT-4o-mini  ·  NEXUS Strategist Agent  ·  NEX Content Director  ·  VEX Paid Campaign Agent  ·  SENTINEL Review Agent  ·  Campaign Memory (cross-campaign learning)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800600" y="3474720"/>
            <a:ext cx="4023360" cy="1554480"/>
          </a:xfrm>
          <a:prstGeom prst="rect">
            <a:avLst/>
          </a:prstGeom>
          <a:solidFill>
            <a:srgbClr val="0D1225"/>
          </a:solidFill>
          <a:ln w="15240">
            <a:solidFill>
              <a:srgbClr val="10B981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00600" y="3474720"/>
            <a:ext cx="402336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3566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37760" y="3913632"/>
            <a:ext cx="37490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(hosting + edge)  ·  Supabase (PostgreSQL + Auth)  ·  Cloudinary (media)  ·  Stripe (payments)  ·  Meta API / LinkedIn API / TikTok API  ·  Cron jobs (weekly briefs, credit reset)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607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97316"/>
                </a:solidFill>
              </a:rPr>
              <a:t>BUSINESS MODEL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Monetization &amp; Scaling Roadmap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→ Pro → Business — designed for natural upgrades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2606040" cy="3108960"/>
          </a:xfrm>
          <a:prstGeom prst="rect">
            <a:avLst/>
          </a:prstGeom>
          <a:solidFill>
            <a:srgbClr val="0D1225"/>
          </a:solidFill>
          <a:ln w="12700">
            <a:solidFill>
              <a:srgbClr val="94A3B8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20116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240487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914400" y="2926080"/>
            <a:ext cx="1691640" cy="256032"/>
          </a:xfrm>
          <a:prstGeom prst="roundRect">
            <a:avLst>
              <a:gd name="adj" fmla="val 25000"/>
            </a:avLst>
          </a:prstGeom>
          <a:solidFill>
            <a:srgbClr val="0D1225"/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92608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4A3B8"/>
                </a:solidFill>
              </a:rPr>
              <a:t>Start Free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40080" y="3291840"/>
            <a:ext cx="2240280" cy="0"/>
          </a:xfrm>
          <a:prstGeom prst="line">
            <a:avLst/>
          </a:prstGeom>
          <a:noFill/>
          <a:ln w="6350">
            <a:solidFill>
              <a:srgbClr val="47556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3520440"/>
            <a:ext cx="91440" cy="9144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3438144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AI credits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58368" y="3840480"/>
            <a:ext cx="91440" cy="9144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3758184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workspace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58368" y="4160520"/>
            <a:ext cx="91440" cy="9144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" y="4078224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full campaign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58368" y="4480560"/>
            <a:ext cx="91440" cy="9144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" y="4398264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+ content + images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58368" y="4800600"/>
            <a:ext cx="91440" cy="9144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4672" y="4718304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Brain (read &amp; write)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971800" y="1417320"/>
            <a:ext cx="2926080" cy="4023360"/>
          </a:xfrm>
          <a:prstGeom prst="ellipse">
            <a:avLst/>
          </a:prstGeom>
          <a:solidFill>
            <a:srgbClr val="8B5CF6">
              <a:alpha val="8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46120" y="1691640"/>
            <a:ext cx="2606040" cy="3474720"/>
          </a:xfrm>
          <a:prstGeom prst="rect">
            <a:avLst/>
          </a:prstGeom>
          <a:solidFill>
            <a:srgbClr val="0D1225"/>
          </a:solidFill>
          <a:ln w="25400">
            <a:solidFill>
              <a:srgbClr val="8B5CF6"/>
            </a:solidFill>
            <a:prstDash val="solid"/>
          </a:ln>
          <a:effectLst>
            <a:outerShdw sx="100000" sy="100000" kx="0" ky="0" algn="bl" rotWithShape="0" blurRad="254000" dist="50800" dir="8100000">
              <a:srgbClr val="8B5CF6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246120" y="18288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246120" y="222199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$79/mo</a:t>
            </a:r>
            <a:endParaRPr lang="en-US" sz="2800" dirty="0"/>
          </a:p>
        </p:txBody>
      </p:sp>
      <p:sp>
        <p:nvSpPr>
          <p:cNvPr id="25" name="Shape 23"/>
          <p:cNvSpPr/>
          <p:nvPr/>
        </p:nvSpPr>
        <p:spPr>
          <a:xfrm>
            <a:off x="3703320" y="2743200"/>
            <a:ext cx="1691640" cy="256032"/>
          </a:xfrm>
          <a:prstGeom prst="roundRect">
            <a:avLst>
              <a:gd name="adj" fmla="val 25000"/>
            </a:avLst>
          </a:prstGeom>
          <a:solidFill>
            <a:srgbClr val="8B5CF6"/>
          </a:solidFill>
          <a:ln w="10160">
            <a:solidFill>
              <a:srgbClr val="8B5C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03320" y="274320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Most Popular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429000" y="3108960"/>
            <a:ext cx="2240280" cy="0"/>
          </a:xfrm>
          <a:prstGeom prst="line">
            <a:avLst/>
          </a:prstGeom>
          <a:noFill/>
          <a:ln w="6350">
            <a:solidFill>
              <a:srgbClr val="47556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47288" y="3337560"/>
            <a:ext cx="91440" cy="914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93592" y="3255264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AI credits/month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447288" y="3657600"/>
            <a:ext cx="91440" cy="914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93592" y="3575304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workspaces · 20 campaigns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447288" y="3977640"/>
            <a:ext cx="91440" cy="914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93592" y="3895344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scheduled posts/month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447288" y="4297680"/>
            <a:ext cx="91440" cy="914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593592" y="4215384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Auto-publish (Meta·LinkedIn·TikTok)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447288" y="4617720"/>
            <a:ext cx="91440" cy="914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593592" y="4535424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Testing + AI Rewrite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447288" y="4937760"/>
            <a:ext cx="91440" cy="914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593592" y="4855464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+ ROI Dashboard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035040" y="1874520"/>
            <a:ext cx="2606040" cy="3108960"/>
          </a:xfrm>
          <a:prstGeom prst="rect">
            <a:avLst/>
          </a:prstGeom>
          <a:solidFill>
            <a:srgbClr val="0D1225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6035040" y="20116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6035040" y="240487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$199/mo</a:t>
            </a:r>
            <a:endParaRPr lang="en-US" sz="2200" dirty="0"/>
          </a:p>
        </p:txBody>
      </p:sp>
      <p:sp>
        <p:nvSpPr>
          <p:cNvPr id="43" name="Shape 41"/>
          <p:cNvSpPr/>
          <p:nvPr/>
        </p:nvSpPr>
        <p:spPr>
          <a:xfrm>
            <a:off x="6492240" y="2926080"/>
            <a:ext cx="1691640" cy="256032"/>
          </a:xfrm>
          <a:prstGeom prst="roundRect">
            <a:avLst>
              <a:gd name="adj" fmla="val 25000"/>
            </a:avLst>
          </a:prstGeom>
          <a:solidFill>
            <a:srgbClr val="0D1225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92240" y="292608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</a:rPr>
              <a:t>Agency Ready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217920" y="3291840"/>
            <a:ext cx="2240280" cy="0"/>
          </a:xfrm>
          <a:prstGeom prst="line">
            <a:avLst/>
          </a:prstGeom>
          <a:noFill/>
          <a:ln w="6350">
            <a:solidFill>
              <a:srgbClr val="475569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236208" y="3520440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82512" y="3438144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AI credits/month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236208" y="3840480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82512" y="3758184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workspaces · 60 campaigns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236208" y="4160520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82512" y="4078224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posts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6236208" y="4480560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382512" y="4398264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team seats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6236208" y="4800600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82512" y="4718304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 exports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6236208" y="5120640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382512" y="5038344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support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607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1828800"/>
            <a:ext cx="4572000" cy="4572000"/>
          </a:xfrm>
          <a:prstGeom prst="ellipse">
            <a:avLst/>
          </a:prstGeom>
          <a:solidFill>
            <a:srgbClr val="8B5CF6">
              <a:alpha val="12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22D3EE">
              <a:alpha val="1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1887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AI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Marketing OS — Strategy to Publish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560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pages · 4 AI agents · 3 social platforms · Full billing system · Bilingual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3108960"/>
            <a:ext cx="1508760" cy="822960"/>
          </a:xfrm>
          <a:prstGeom prst="rect">
            <a:avLst/>
          </a:prstGeom>
          <a:solidFill>
            <a:srgbClr val="0D1225"/>
          </a:solidFill>
          <a:ln w="10160">
            <a:solidFill>
              <a:srgbClr val="8B5CF6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3127248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25+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57200" y="3538728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Routes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121408" y="3108960"/>
            <a:ext cx="1508760" cy="822960"/>
          </a:xfrm>
          <a:prstGeom prst="rect">
            <a:avLst/>
          </a:prstGeom>
          <a:solidFill>
            <a:srgbClr val="0D1225"/>
          </a:solidFill>
          <a:ln w="10160">
            <a:solidFill>
              <a:srgbClr val="8B5CF6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121408" y="3127248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40+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121408" y="3538728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785616" y="3108960"/>
            <a:ext cx="1508760" cy="822960"/>
          </a:xfrm>
          <a:prstGeom prst="rect">
            <a:avLst/>
          </a:prstGeom>
          <a:solidFill>
            <a:srgbClr val="0D1225"/>
          </a:solidFill>
          <a:ln w="10160">
            <a:solidFill>
              <a:srgbClr val="8B5CF6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785616" y="3127248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785616" y="3538728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449824" y="3108960"/>
            <a:ext cx="1508760" cy="822960"/>
          </a:xfrm>
          <a:prstGeom prst="rect">
            <a:avLst/>
          </a:prstGeom>
          <a:solidFill>
            <a:srgbClr val="0D1225"/>
          </a:solidFill>
          <a:ln w="10160">
            <a:solidFill>
              <a:srgbClr val="8B5CF6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49824" y="3127248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449824" y="3538728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Platforms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114032" y="3108960"/>
            <a:ext cx="1508760" cy="822960"/>
          </a:xfrm>
          <a:prstGeom prst="rect">
            <a:avLst/>
          </a:prstGeom>
          <a:solidFill>
            <a:srgbClr val="0D1225"/>
          </a:solidFill>
          <a:ln w="10160">
            <a:solidFill>
              <a:srgbClr val="8B5CF6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114032" y="3127248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7114032" y="3538728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Plans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914400" y="4297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nexus-ai.io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NEXUS AI — Full Platform Architecture</dc:title>
  <dc:subject>PptxGenJS Presentation</dc:subject>
  <dc:creator>NEXUS AI</dc:creator>
  <cp:lastModifiedBy>NEXUS AI</cp:lastModifiedBy>
  <cp:revision>1</cp:revision>
  <dcterms:created xsi:type="dcterms:W3CDTF">2026-06-05T13:47:59Z</dcterms:created>
  <dcterms:modified xsi:type="dcterms:W3CDTF">2026-06-05T13:47:59Z</dcterms:modified>
</cp:coreProperties>
</file>