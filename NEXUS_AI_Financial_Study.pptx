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1792"/>
            <a:ext cx="8046720" cy="28346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621792"/>
            <a:ext cx="64008" cy="2834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</a:rPr>
              <a:t>NEXUS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Comprehensive Financial Study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Unit Economics  •  Credit Model  •  Competitive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523744"/>
            <a:ext cx="402336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96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4A8"/>
                </a:solidFill>
              </a:rPr>
              <a:t>June 2026  |  CONFIDENTIAL  |  Internal Use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920240" cy="10058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657600"/>
            <a:ext cx="19202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4904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87–99%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30133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Gross Margin Range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33472" y="3657600"/>
            <a:ext cx="1920240" cy="10058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3657600"/>
            <a:ext cx="19202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374904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~$65/mo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430133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Fixed Infra Cost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18304" y="3657600"/>
            <a:ext cx="1920240" cy="10058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18304" y="3657600"/>
            <a:ext cx="19202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74904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3 Users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18304" y="430133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Break-even Point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03136" y="3657600"/>
            <a:ext cx="1920240" cy="10058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3657600"/>
            <a:ext cx="19202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3749040"/>
            <a:ext cx="192024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$44.50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03136" y="430133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Blended ARPU / Month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EXECUTIVE SUMMARY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NEXUS AI — Financial Overview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886968"/>
            <a:ext cx="208483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87–99%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Gross Margin Range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68296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68296" y="886968"/>
            <a:ext cx="208483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94%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68296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Avg Blended Margin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99432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886968"/>
            <a:ext cx="2084832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$49/mo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9432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Most Popular Plan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30568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0568" y="886968"/>
            <a:ext cx="2084832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&lt;$1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30568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AI API Cost / User / Month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719072"/>
          <a:ext cx="8869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3749040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Business Model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SaaS Subscription +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4 tiers: Free→$0, Starter→$19, Growth→$49, Agency→$99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Revenue Type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100% Monthly Recurring (MRR)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Credits refresh monthly on paid plans — pure recurring lock-in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COGS Driver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OpenAI API calls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$0.0003 (Chat) → $0.053 (Full Strategy) per action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Gross Margin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87–99% per AI action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Image Gen = 87% (lowest) · Chat/Rewrite = 99.9% (highest)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Fixed Infra/Month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~$45–$75/mo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Supabase Pro $25 + Vercel $20 + misc tools (Redis, Sentry, Email)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Variable Costs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2.9% + $0.30/txn (Stripe) + API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API usage scales with activity; Stripe fee per billing cycle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Break-even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~3 Growth or ~8 Starter users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Covers all fixed infrastructure; essentially immediate profitability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Blended ARPU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~$44.50/month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Mix assumption: 40% Starter / 45% Growth / 15% Agency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Referral Bonus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+20 credits to both parties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Viral loop mechanic — built-in acquisition at near-zero cost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LTV (12-month)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$210–$1,116/user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Starter $210 · Growth $553 · Agency $1,116 (at avg churn)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PRICING ARCHITECTURE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4-Tier Subscription Model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Designed around the HubSpot research benchmark: 16+ posts/month = 4.5× more leads. Starter is deliberately below threshold → natural upgrade pressure to Growth.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7160" y="1170432"/>
            <a:ext cx="2103120" cy="3730752"/>
          </a:xfrm>
          <a:prstGeom prst="rect">
            <a:avLst/>
          </a:prstGeom>
          <a:solidFill>
            <a:srgbClr val="101428"/>
          </a:solidFill>
          <a:ln w="12700">
            <a:solidFill>
              <a:srgbClr val="6C74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1170432"/>
            <a:ext cx="2103120" cy="64008"/>
          </a:xfrm>
          <a:prstGeom prst="rect">
            <a:avLst/>
          </a:prstGeom>
          <a:solidFill>
            <a:srgbClr val="6C74A8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1280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4A8"/>
                </a:solidFill>
              </a:rPr>
              <a:t>Free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340864"/>
            <a:ext cx="1737360" cy="0"/>
          </a:xfrm>
          <a:prstGeom prst="line">
            <a:avLst/>
          </a:prstGeom>
          <a:noFill/>
          <a:ln w="6350">
            <a:solidFill>
              <a:srgbClr val="6C74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2414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credits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7160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C74A8"/>
                </a:solidFill>
              </a:rPr>
              <a:t>One-time · Never refreshes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" y="2889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 posts/mo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7160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 workspace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346704"/>
            <a:ext cx="173736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3419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Rev/credit: $0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7160" y="36210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Gross margin: N/A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37160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Stripe fee: None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" y="4059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12-mo LTV: $0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68296" y="1170432"/>
            <a:ext cx="2103120" cy="3730752"/>
          </a:xfrm>
          <a:prstGeom prst="rect">
            <a:avLst/>
          </a:prstGeom>
          <a:solidFill>
            <a:srgbClr val="10142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68296" y="1170432"/>
            <a:ext cx="210312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8296" y="1280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Starter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368296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$19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368296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/month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51176" y="2340864"/>
            <a:ext cx="1737360" cy="0"/>
          </a:xfrm>
          <a:prstGeom prst="line">
            <a:avLst/>
          </a:prstGeom>
          <a:noFill/>
          <a:ln w="635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68296" y="2414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 credits/mo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68296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6B6D4"/>
                </a:solidFill>
              </a:rPr>
              <a:t>Refreshes monthly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68296" y="2889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 posts/mo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68296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 workspace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51176" y="3346704"/>
            <a:ext cx="173736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68296" y="3419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Rev/credit: $0.380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68296" y="36210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Gross margin: ~92–99%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368296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Stripe fee: $0.85/mo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368296" y="4059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12-mo LTV: $210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99432" y="1170432"/>
            <a:ext cx="2103120" cy="3730752"/>
          </a:xfrm>
          <a:prstGeom prst="rect">
            <a:avLst/>
          </a:prstGeom>
          <a:solidFill>
            <a:srgbClr val="091D3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9432" y="1170432"/>
            <a:ext cx="21031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1280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Growth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99432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$49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599432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/month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82312" y="2340864"/>
            <a:ext cx="17373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9432" y="2414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150 credits/mo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99432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</a:rPr>
              <a:t>Most Popular 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99432" y="2889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25 posts/mo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99432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workspaces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82312" y="3346704"/>
            <a:ext cx="173736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9432" y="3419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Rev/credit: $0.327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599432" y="36210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Gross margin: ~94–99%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599432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Stripe fee: $1.72/mo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99432" y="4059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12-mo LTV: $553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30568" y="1170432"/>
            <a:ext cx="2103120" cy="3730752"/>
          </a:xfrm>
          <a:prstGeom prst="rect">
            <a:avLst/>
          </a:prstGeom>
          <a:solidFill>
            <a:srgbClr val="101428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30568" y="1170432"/>
            <a:ext cx="21031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30568" y="1280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Agency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830568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$99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6830568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/month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13448" y="2340864"/>
            <a:ext cx="173736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0568" y="2414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500 credits/mo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30568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5CF6"/>
                </a:solidFill>
              </a:rPr>
              <a:t>10 brands / clients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830568" y="2889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60 posts/mo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830568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workspaces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013448" y="3346704"/>
            <a:ext cx="173736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30568" y="3419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Rev/credit: $0.198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830568" y="36210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Gross margin: ~93–99%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830568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Stripe fee: $3.17/mo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830568" y="40599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12-mo LTV: $1,116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THE CREDIT MODEL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Credit Circle — How Money Flows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Credits are the economic engine of NEXUS AI, acting as an internal currency that converts subscription revenue into AI consumption. The 7-step cycle creates recurring lock-in.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7160" y="1170432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1170432"/>
            <a:ext cx="4572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234440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Subscribes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" y="140817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Monthly payment processed → MRR recorded. Stripe 2.9% + $0.30 deducted.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7160" y="1645920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1645920"/>
            <a:ext cx="4572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709928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" y="1682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Credits Granted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" y="18836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Credit bundle added to account. Free: 10 one-time. Paid: refreshes every billing cycle.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7160" y="2121408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2121408"/>
            <a:ext cx="4572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185416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Action Triggered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User generates strategy / content / image / ad copy. Credits deducted atomically.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7160" y="2596896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" y="2596896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266090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2633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OpenAI API Called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656" y="283464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GPT-4o / GPT-4o-mini processes the request. Cost: $0.0003 – $0.053 per action.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7160" y="3072384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" y="3072384"/>
            <a:ext cx="457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13639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" y="3108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 Delivered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" y="33101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Strategy / posts / images delivered to user. Brand Brain updated with new context.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7160" y="3547872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" y="3547872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361188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Credits Depleted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" y="378561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Threshold alert sent at low-credits level. Upgrade modal displayed automatically in app.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37160" y="4023360"/>
            <a:ext cx="8869680" cy="438912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" y="402336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087368"/>
            <a:ext cx="310896" cy="31089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6656" y="40599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Upgrade or Renew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6656" y="426110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User upgrades plan or waits for monthly reset. Referral: +20 credits to both parties.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37160" y="4498848"/>
            <a:ext cx="886968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7160" y="4498848"/>
            <a:ext cx="45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" y="4498848"/>
            <a:ext cx="8705088" cy="347472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Key mechanic: Free credits are one-time and never refresh. When a Free user exhausts 10 credits they hit an upgrade wall — creating the core conversion moment. Paid credits reset monthly, building a recurring subscription relationship.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AI ECONOMICS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Action Cost Analysis — Gross Margins by Action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All margins calculated at Growth plan ($49/mo, $0.327/credit). Image generation carries the lowest margin due to DALL-E's $0.040/image cost.</a:t>
            </a:r>
            <a:endParaRPr lang="en-US" sz="850" dirty="0"/>
          </a:p>
        </p:txBody>
      </p:sp>
      <p:pic>
        <p:nvPicPr>
          <p:cNvPr id="10" name="Image 0" descr="/sessions/dazzling-confident-hamilton/mnt/outputs/chart_s5_marg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43000"/>
            <a:ext cx="5486400" cy="37033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43000"/>
          <a:ext cx="3200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85800"/>
                <a:gridCol w="685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Credits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API Cost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Margin %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Image Gen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$0.040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95.9%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Website Scan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$0.040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95.9%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Paid Pack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6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$0.060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96.9%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Content Anlys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$0.015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</a:rPr>
                        <a:t>97.7%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Campaign Gen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$0.028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</a:rPr>
                        <a:t>98.3%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Content Plan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2 credits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$0.002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99.7%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Chat/Rewrite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 credit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$0.0003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99.9%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806440" y="9784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4A8"/>
                </a:solidFill>
              </a:rPr>
              <a:t>Worst → Best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806440" y="2386584"/>
            <a:ext cx="3200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06440" y="24048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← Lower margin threshold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INFRASTRUCTURE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Monthly Infrastructure Cost Breakdown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886968"/>
            <a:ext cx="208483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$45–$46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Fixed Cost at Launch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68296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68296" y="886968"/>
            <a:ext cx="208483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$75–$120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68296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Fixed Cost at Scale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99432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886968"/>
            <a:ext cx="2084832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$0.30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9432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Stripe Fee per Txn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30568" y="886968"/>
            <a:ext cx="2084832" cy="768096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0568" y="886968"/>
            <a:ext cx="2084832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978408"/>
            <a:ext cx="2084832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$89/mo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30568" y="1378549"/>
            <a:ext cx="208483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Cloudinary Plus Tier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719072"/>
          <a:ext cx="8869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371600"/>
                <a:gridCol w="2286000"/>
                <a:gridCol w="10972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Monthly Cost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Upgrade Trigger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Upgrade Cost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Supabase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Database + Auth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$25/mo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&gt;8GB DB or 100K MAU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$25 + usage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Vercel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Hosting + CDN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$20/mo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&gt;100GB bandwidth/mo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$0.15/GB extra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Cloudinary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Media/Images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&gt;25GB storage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$89/mo (Plus)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OpenAI API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AI Engine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Variable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$2.50/1M (GPT-4o)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Stripe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Payments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2.9%+$0.30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Per transaction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Resend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Transactional Email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&gt;3K emails/month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$20/mo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Sentry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Error Monitoring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&gt;5K errors/month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$26/mo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Upstash Redis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Rate Limiting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&gt;10K req/day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$10/mo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Meta/TikTok/LinkedIn APIs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Social Publishing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Free forever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</a:rPr>
                        <a:t>TOTAL FIXED (Launch)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BBF24"/>
                          </a:solidFill>
                        </a:rPr>
                        <a:t>$45–$46/mo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 FIXED (Scale 200+ users)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$75–$120/mo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C74A8"/>
                          </a:solidFill>
                        </a:rPr>
                        <a:t>Cloudinary + Redis upgrades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UNIT ECONOMICS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Per-User Economics — What Each Customer Actually Costs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Assumes 60% credit utilization (typical active user). API cost calculated at weighted average of $0.008/credit for action mix.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52144"/>
          <a:ext cx="8869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600200"/>
                <a:gridCol w="1600200"/>
                <a:gridCol w="109728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Free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Starter ($19)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Growth ($49)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Agency ($99)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Monthly Revenue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4A8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$19.00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$49.00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</a:rPr>
                        <a:t>$99.00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Stripe Processing Fee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$0.85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$1.72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$3.17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Credits Allocated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 (once)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150/mo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500/mo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Est. Credits Used (60%)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Est. AI API Cost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~$0.08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$0.18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$0.54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$1.80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Infra Cost Allocation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~$0.45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~$0.65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~$1.00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Total COGS per User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~$0.08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~$1.48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~$2.91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~$5.97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Gross Profit per User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-$0.08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$17.52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$46.09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$93.03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Gross Margin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C74A8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</a:rPr>
                        <a:t>92.2%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94.1%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94.0%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LTV at 12-month avg retention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$210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$553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$1,116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LTV at 24-month avg retention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$420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$1,105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6B6D4"/>
                          </a:solidFill>
                        </a:rPr>
                        <a:t>$2,233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BREAK-EVEN ANALYSIS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Revenue vs Fixed Costs — Path to Profitability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Break-even occurs between 1 and 2 paid users (at Growth plan ARPU $49). The red line shows fixed monthly costs. Any revenue above it is gross profit.</a:t>
            </a:r>
            <a:endParaRPr lang="en-US" sz="850" dirty="0"/>
          </a:p>
        </p:txBody>
      </p:sp>
      <p:pic>
        <p:nvPicPr>
          <p:cNvPr id="10" name="Image 0" descr="/sessions/dazzling-confident-hamilton/mnt/outputs/chart_s8_break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52144"/>
            <a:ext cx="5943600" cy="3703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1152144"/>
            <a:ext cx="2788920" cy="749808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1152144"/>
            <a:ext cx="278892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1243584"/>
            <a:ext cx="27889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$44.50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7920" y="1632021"/>
            <a:ext cx="27889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Avg ARPU/Month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920" y="1993392"/>
            <a:ext cx="2788920" cy="749808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993392"/>
            <a:ext cx="278892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2084832"/>
            <a:ext cx="27889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$65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7920" y="2473269"/>
            <a:ext cx="27889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Fixed Cost at Launch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217920" y="2834640"/>
            <a:ext cx="2788920" cy="749808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834640"/>
            <a:ext cx="27889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2926080"/>
            <a:ext cx="27889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17920" y="3314517"/>
            <a:ext cx="27889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Users to Break-Even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217920" y="3675888"/>
            <a:ext cx="2788920" cy="749808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0" y="3675888"/>
            <a:ext cx="2788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3767328"/>
            <a:ext cx="27889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93.6%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17920" y="4155765"/>
            <a:ext cx="27889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GM at 100 Users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217920" y="4443984"/>
            <a:ext cx="2788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0" y="4443984"/>
            <a:ext cx="45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45936" y="4443984"/>
            <a:ext cx="2633472" cy="347472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Break-even at 2 users. $65/mo fixed costs make profitability near-immediate.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REVENUE PROJECTIONS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Year 1 — Monthly MRR Growth (3 Scenarios)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Mix assumption: 40% Starter / 45% Growth / 15% Agency → $44.50 ARPU. 3% monthly churn applied. Conservative = 5 users Month 1 · Base = 10 · Optimistic = 25.</a:t>
            </a:r>
            <a:endParaRPr lang="en-US" sz="850" dirty="0"/>
          </a:p>
        </p:txBody>
      </p:sp>
      <p:pic>
        <p:nvPicPr>
          <p:cNvPr id="10" name="Image 0" descr="/sessions/dazzling-confident-hamilton/mnt/outputs/chart_s9_m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61288"/>
            <a:ext cx="8869680" cy="3246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" y="4480560"/>
            <a:ext cx="2084832" cy="5486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7160" y="4480560"/>
            <a:ext cx="2084832" cy="36576"/>
          </a:xfrm>
          <a:prstGeom prst="rect">
            <a:avLst/>
          </a:prstGeom>
          <a:solidFill>
            <a:srgbClr val="6C74A8"/>
          </a:solidFill>
          <a:ln w="12700">
            <a:solidFill>
              <a:srgbClr val="6C74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" y="4572000"/>
            <a:ext cx="208483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4A8"/>
                </a:solidFill>
              </a:rPr>
              <a:t>$74.8K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" y="483169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Conservative ARR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368296" y="4480560"/>
            <a:ext cx="2084832" cy="5486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368296" y="4480560"/>
            <a:ext cx="2084832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68296" y="4572000"/>
            <a:ext cx="208483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$159K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368296" y="483169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Base ARR (Year 1)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599432" y="4480560"/>
            <a:ext cx="2084832" cy="5486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99432" y="4480560"/>
            <a:ext cx="2084832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9432" y="4572000"/>
            <a:ext cx="208483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$390K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99432" y="483169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Optimistic ARR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830568" y="4480560"/>
            <a:ext cx="2084832" cy="54864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30568" y="4480560"/>
            <a:ext cx="2084832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30568" y="4572000"/>
            <a:ext cx="208483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1,873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30568" y="483169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Users for $1M ARR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REVENUE PROJECTIONS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Year 2–3 — ARR Scenarios &amp; Path to $1M ARR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Optimistic scenario crosses $1M ARR in Year 2. Base scenario reaches $1M ARR mid-Year 3 (~2,500 paid users). Conservative scenario reaches ~$480K ARR by Year 3.</a:t>
            </a:r>
            <a:endParaRPr lang="en-US" sz="850" dirty="0"/>
          </a:p>
        </p:txBody>
      </p:sp>
      <p:pic>
        <p:nvPicPr>
          <p:cNvPr id="10" name="Image 0" descr="/sessions/dazzling-confident-hamilton/mnt/outputs/chart_s10_a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61288"/>
            <a:ext cx="8869680" cy="3154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37160" y="4370832"/>
            <a:ext cx="88696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" y="4370832"/>
            <a:ext cx="457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" y="4370832"/>
            <a:ext cx="8705088" cy="47548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$1M ARR Milestone: Requires 1,873 paid users at $44.50 ARPU. Base scenario: achievable in Year 3. Optimistic scenario: Year 2. At $49/mo (Growth only): 1,701 users needed.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COMPETITIVE ANALYSIS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Competitor Pricing &amp; Positioning (June 2026)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NEXUS AI competes across Social Media Management (Buffer, Hootsuite, Later, Sprout) and AI Content Generation (Jasper, Copy.ai). It is the only platform combining both.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61288"/>
          <a:ext cx="8869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005840"/>
                <a:gridCol w="1005840"/>
                <a:gridCol w="1188720"/>
                <a:gridCol w="548640"/>
                <a:gridCol w="25603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Entry Price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Mid Plan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AI Features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Publish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Positioning vs NEXUS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Buffer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Social Mgmt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Free (3 ch.)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$5–10/channel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Basic AI drafts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No strategy or campaign planning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Hootsuite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Social Mgmt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$99/user/mo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$249/user/mo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OwlyWriter 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5× more expensive than NEXUS 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Later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Social Mgmt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$25/mo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$110/mo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Basic captions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No AI strategy · No image gen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Sprout Social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Social Mgmt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$79/user/mo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$399/user/mo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Sentiment 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Enterprise only · No content gen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Jasper 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AI Content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$39/mo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$59/mo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Excellent copy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Cannot publish to social media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Copy.ai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AI Content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$49/mo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</a:rPr>
                        <a:t>Good copy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No publishing · No strategy · No Brand Brain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NEXUS 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AI Marketing OS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$19–$99/mo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Full AI Agents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Strategy + Publishing + Brand Brain in one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COMPETITIVE ANALYSIS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Feature Capability Matrix — NEXUS AI vs Competitors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85953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++ = Excellent  |  + = Good  |  ~ = Basic  |  — = Not available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15568"/>
          <a:ext cx="8869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68680"/>
                <a:gridCol w="1234440"/>
                <a:gridCol w="868680"/>
                <a:gridCol w="960120"/>
                <a:gridCol w="1051560"/>
                <a:gridCol w="11430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Buffer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Hootsuite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Later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Jasper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Copy.ai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NEXUS AI ★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Social Publishing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AI Caption / Copy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Campaign Strategy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Brand Memory (AI)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Content Calendar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Image Generation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A/B Testing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Analytics / ROI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Arabic / Bilingual AI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Credit-based Limits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366F1"/>
                          </a:solidFill>
                        </a:rPr>
                        <a:t>++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Typical SMB Cost/Month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$15–30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$99–249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$25–110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$39–59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$0–49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$19–49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RISK ANALYSIS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Financial Risks &amp; Mitigations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86968"/>
          <a:ext cx="8869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914400"/>
                <a:gridCol w="4754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8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OpenAI price increase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Credit bundles absorb it. 2× price hike only reduces margin from 98% → 96%. Can raise prices without user awareness (they see credits, not API costs).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High image gen usage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Image gen at $0.040/image is 87% margin (lowest). Limit free plan to text. Consider 5-credit cost for image gen at Agency scale.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High churn rate (&gt;5%)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Brand Brain creates switching cost — users cannot take brand history elsewhere. Improve Month 1 onboarding to reduce early churn.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Stripe processing fees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$0.30 fixed fee per txn. Offer annual billing (10–20% discount) to reduce to 1× fee per year. Improves cash flow and reduces churn.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OpenAI rate limits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43F5E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Already rate-limited via DB. Increase OpenAI tier proactively. Use GPT-4o-mini for low-value actions to reduce costs and latency.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Free tier abuse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Free credits are one-time only — cannot be obtained again. Rate limiting in place. Low financial risk as free users cost &lt;$0.05 each.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Competitor price cuts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Brand Brain moat: switching cost increases with usage. Already 51% cheaper than Hootsuite. Focus on retention, not price war.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Cloudinary storage overage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Free tier: 25GB. At ~100KB/image, supports ~250K images. Upgrade to $89/mo Plus tier needed around 1,000+ active creators.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STRATEGIC RECOMMENDATIONS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5 High-Impact Financial Optimizations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914400"/>
            <a:ext cx="8869680" cy="73152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914400"/>
            <a:ext cx="45720" cy="7315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097280"/>
            <a:ext cx="41148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097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9509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Introduce Annual Billing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9509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8096" y="1225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Annual pricing at 20% discount reduces Stripe fees from $3.60/yr to $0.30/yr per user, improves cash flow, and lowers churn. At 30% annual adoption across 500 users, saves ~$500/mo.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" y="1700784"/>
            <a:ext cx="8869680" cy="73152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" y="1700784"/>
            <a:ext cx="45720" cy="7315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883664"/>
            <a:ext cx="41148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883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17373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Reprice Agency Plan to $149/mo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8096" y="2011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Agency users have multi-client workflows and strong switching costs. Even a $50 increase adds $7,500/mo at 150 Agency users. Agency's credit discount ($0.198/credit) is the lowest margin tier.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" y="2487168"/>
            <a:ext cx="8869680" cy="73152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" y="2487168"/>
            <a:ext cx="457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670048"/>
            <a:ext cx="411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670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" y="252374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Add Credit Top-Up Packs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523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MEDIUM PRIORITY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" y="2798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Offer $9 for 30 extra credits. Users who run out mid-campaign pay for convenience. At 10% adoption across 300 paid users buying 1 pack/month: +$135/mo pure margin revenue.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37160" y="3273552"/>
            <a:ext cx="8869680" cy="73152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37160" y="3273552"/>
            <a:ext cx="457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456432"/>
            <a:ext cx="411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4564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33101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Credit Multiplier at Agency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MEDIUM PRIORITY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8096" y="3584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Image gen costs $0.040/image vs $0.001 for text. Agency users generating at scale erode margins. Charging 5 credits for image gen (vs 3) at Agency tier restores margin parity.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37160" y="4059936"/>
            <a:ext cx="8869680" cy="73152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37160" y="4059936"/>
            <a:ext cx="4572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4242816"/>
            <a:ext cx="41148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42428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8096" y="40965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Tiered Referral Program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4096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LOW PRIORITY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8096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Current: +20 credits to both. Consider +50 credits to referrer when referee upgrades to paid. Converts CAC into credit liability (not cash), improving referral acquisition economics.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101428"/>
          </a:solidFill>
          <a:ln w="12700">
            <a:solidFill>
              <a:srgbClr val="10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05756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C74A8"/>
                </a:solidFill>
              </a:rPr>
              <a:t>NEXUS AI  •  Financial Study &amp; Competitive Analysis  •  June 2026  •  CONFIDENTIAL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37160" y="73152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366F1"/>
                </a:solidFill>
              </a:rPr>
              <a:t>FINANCIAL SCORECARD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" y="301752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NEXUS AI Financial Health Assessment — June 2026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7160" y="804672"/>
            <a:ext cx="8869680" cy="0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914400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914400"/>
            <a:ext cx="17373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00584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97/100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" y="144109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Gross Margin Quality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911096" y="914400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11096" y="914400"/>
            <a:ext cx="17373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11096" y="100584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95/100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11096" y="144109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Infra Cost Efficiency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85032" y="914400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85032" y="914400"/>
            <a:ext cx="17373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100584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98/100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85032" y="144109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Break-even Achievability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58968" y="914400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58968" y="914400"/>
            <a:ext cx="17373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100584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90/100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144109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Revenue Model Stability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232904" y="914400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32904" y="914400"/>
            <a:ext cx="17373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100584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88/100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2904" y="144109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Unit Economics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1792224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" y="1792224"/>
            <a:ext cx="17373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1883664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85/100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" y="231891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Scalability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911096" y="1792224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911096" y="1792224"/>
            <a:ext cx="17373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11096" y="1883664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88/100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911096" y="231891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Competitive Pricing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85032" y="1792224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85032" y="1792224"/>
            <a:ext cx="17373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85032" y="1883664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82/100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85032" y="231891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Competitive Moat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58968" y="1792224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58968" y="1792224"/>
            <a:ext cx="17373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1883664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88/100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58968" y="231891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Risk Profile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32904" y="1792224"/>
            <a:ext cx="1737360" cy="82296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9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32904" y="1792224"/>
            <a:ext cx="17373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32904" y="1883664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75/100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32904" y="231891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4A8"/>
                </a:solidFill>
              </a:rPr>
              <a:t>Path to $1M ARR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37160" y="2724912"/>
            <a:ext cx="88696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37160" y="2724912"/>
            <a:ext cx="4572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2752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C74A8"/>
                </a:solidFill>
              </a:rPr>
              <a:t>OVERALL SCORE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74320" y="30175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88 / 100</a:t>
            </a:r>
            <a:endParaRPr lang="en-US" sz="3200" dirty="0"/>
          </a:p>
        </p:txBody>
      </p:sp>
      <p:sp>
        <p:nvSpPr>
          <p:cNvPr id="53" name="Shape 51"/>
          <p:cNvSpPr/>
          <p:nvPr/>
        </p:nvSpPr>
        <p:spPr>
          <a:xfrm>
            <a:off x="2240280" y="2798064"/>
            <a:ext cx="0" cy="768096"/>
          </a:xfrm>
          <a:prstGeom prst="line">
            <a:avLst/>
          </a:prstGeom>
          <a:noFill/>
          <a:ln w="6350">
            <a:solidFill>
              <a:srgbClr val="2529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</a:rPr>
              <a:t>STRONG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77440" y="307238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NEXUS AI has outstanding unit economics for a SaaS business. Industry-leading 87–99% gross margins, break-even at 1–3 paid users, and 40–80% cheaper than enterprise competitors. The primary focus should be on growth — the cost structure is already excellent.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37160" y="3730752"/>
            <a:ext cx="886968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25295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" y="3730752"/>
            <a:ext cx="4572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5176" y="3730752"/>
            <a:ext cx="8705088" cy="475488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Bottom Line: NEXUS AI is financially sound and ready for growth-stage investment. The credit model creates recurring revenue, natural upgrade pressure, and viral loop mechanics. Primary financial recommendation: focus on user acquisition — the economics fully support scaling.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AI Financial Study</dc:title>
  <dc:subject>Unit Economics, Credit Model &amp; Competitive Analysis — June 2026</dc:subject>
  <dc:creator>NEXUS AI</dc:creator>
  <cp:lastModifiedBy>NEXUS AI</cp:lastModifiedBy>
  <cp:revision>1</cp:revision>
  <dcterms:created xsi:type="dcterms:W3CDTF">2026-06-10T07:38:43Z</dcterms:created>
  <dcterms:modified xsi:type="dcterms:W3CDTF">2026-06-10T07:38:43Z</dcterms:modified>
</cp:coreProperties>
</file>