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88920" y="-2788920"/>
            <a:ext cx="5029200" cy="50292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72200" y="2240280"/>
            <a:ext cx="3200400" cy="32004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57800" y="-685800"/>
            <a:ext cx="2286000" cy="22860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64008" cy="10515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57400"/>
            <a:ext cx="64008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6868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58368" y="20848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Marketing Operating System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8368" y="2834640"/>
            <a:ext cx="2514600" cy="475488"/>
          </a:xfrm>
          <a:prstGeom prst="rect">
            <a:avLst/>
          </a:prstGeom>
          <a:solidFill>
            <a:srgbClr val="181C35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346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Brand Brain Intelligence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5848" y="2834640"/>
            <a:ext cx="2514600" cy="475488"/>
          </a:xfrm>
          <a:prstGeom prst="rect">
            <a:avLst/>
          </a:prstGeom>
          <a:solidFill>
            <a:srgbClr val="181C3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28346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5 Specialized AI Agents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53328" y="2834640"/>
            <a:ext cx="2514600" cy="475488"/>
          </a:xfrm>
          <a:prstGeom prst="rect">
            <a:avLst/>
          </a:prstGeom>
          <a:solidFill>
            <a:srgbClr val="181C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28346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End-to-End Campaign 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3520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just an AI generator — your complete AI marketing department."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36576"/>
          </a:xfrm>
          <a:prstGeom prst="rect">
            <a:avLst/>
          </a:prstGeom>
          <a:solidFill>
            <a:srgbClr val="252958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D4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PARTNER MEETING  ·  JUNE 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nexus-ai.com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F43F5E">
              <a:alpha val="8000"/>
            </a:srgbClr>
          </a:solidFill>
          <a:ln w="12700">
            <a:solidFill>
              <a:srgbClr val="F43F5E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F59E0B">
              <a:alpha val="7000"/>
            </a:srgbClr>
          </a:solidFill>
          <a:ln w="12700">
            <a:solidFill>
              <a:srgbClr val="F59E0B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businesses fail to grow consistently — and what's missing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1600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99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98448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for Strategy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98448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 spend hours creating content without a plan. Marketing is reactive, not strategic — and results show 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8032" y="1234440"/>
            <a:ext cx="4114800" cy="1600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234440"/>
            <a:ext cx="5486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1399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6928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Agency Costs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marketing agency costs $3,000–$15,000/month. Most SMBs simply can't afford consistent professional support.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114800" cy="1600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3240"/>
            <a:ext cx="54864" cy="1600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27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98448" y="3200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Fragmentation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98448" y="3611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juggle 6–12 disconnected tools: Canva, ChatGPT, Buffer, Google Analytics... no unified workflow, no brand memory.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28032" y="3063240"/>
            <a:ext cx="4114800" cy="1600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063240"/>
            <a:ext cx="54864" cy="1600200"/>
          </a:xfrm>
          <a:prstGeom prst="rect">
            <a:avLst/>
          </a:prstGeom>
          <a:solidFill>
            <a:srgbClr val="6C74A8"/>
          </a:solidFill>
          <a:ln w="12700">
            <a:solidFill>
              <a:srgbClr val="6C74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3227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69280" y="3200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Brand Memory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3611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centralized brand intelligence layer, every piece of content sounds different. Recognition and trust never compound.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NEXUS AI?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Marketing OS — not a tool, a system that thinks for your business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69080" cy="361188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" cy="3611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Marketing Department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AI replaces the entire marketing stack: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Marketing Strategist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Content Writer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284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Campaign Manager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Creative Director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69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Quality Reviewer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143000"/>
            <a:ext cx="3977640" cy="79552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143000"/>
            <a:ext cx="54864" cy="7955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188720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76672" y="1207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Brand Memory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76672" y="154533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brand, voice, audience, and campaign history over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029968"/>
            <a:ext cx="3977640" cy="79552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029968"/>
            <a:ext cx="54864" cy="7955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075688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76672" y="2093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Campaign Automation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6672" y="243230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 content → publishing in one connected workflow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916936"/>
            <a:ext cx="3977640" cy="79552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916936"/>
            <a:ext cx="54864" cy="7955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962656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376672" y="29809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Output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76672" y="33192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Instagram, TikTok, LinkedIn — platform-native content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803904"/>
            <a:ext cx="3977640" cy="79552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803904"/>
            <a:ext cx="54864" cy="7955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849624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376672" y="38679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Outcome-Driven Design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76672" y="42062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exists to drive leads, conversions, and retention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NEXUS AI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5-step loop — from brand setup to published content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1481328" cy="3566160"/>
          </a:xfrm>
          <a:prstGeom prst="rect">
            <a:avLst/>
          </a:prstGeom>
          <a:solidFill>
            <a:srgbClr val="181C35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37160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9842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Brand Brain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274320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brand voice, target audience, competitors, pricing, content style, and goals.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25603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029968" y="1188720"/>
            <a:ext cx="1481328" cy="3566160"/>
          </a:xfrm>
          <a:prstGeom prst="rect">
            <a:avLst/>
          </a:prstGeom>
          <a:solidFill>
            <a:srgbClr val="181C3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13716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21408" y="19842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Campaign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21408" y="274320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objective, budget, platform, and campaign brief. The system learns your intent.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02736" y="25603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12464" y="1188720"/>
            <a:ext cx="1481328" cy="3566160"/>
          </a:xfrm>
          <a:prstGeom prst="rect">
            <a:avLst/>
          </a:prstGeom>
          <a:solidFill>
            <a:srgbClr val="181C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24528" y="1371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03904" y="19842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Strategy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03904" y="274320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specialized agents generate: strategy, hooks, captions, creative brief, content calendar.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85232" y="25603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394960" y="1188720"/>
            <a:ext cx="1481328" cy="3566160"/>
          </a:xfrm>
          <a:prstGeom prst="rect">
            <a:avLst/>
          </a:prstGeom>
          <a:solidFill>
            <a:srgbClr val="181C3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13716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0702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19842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0" y="274320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QA check, edit posts, regenerate, approve campaign and launch from Content Hub.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67728" y="25603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077456" y="1188720"/>
            <a:ext cx="1481328" cy="3566160"/>
          </a:xfrm>
          <a:prstGeom prst="rect">
            <a:avLst/>
          </a:prstGeom>
          <a:solidFill>
            <a:srgbClr val="181C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68896" y="19842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Improve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168896" y="274320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publish to all platforms. Every result feeds back into Brand Brain memory.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Every published result is fed back into Brand Brain — the platform gets smarter with every campaign.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Brain™ — The Intelligence Core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memory layer that gives NEXUS AI its strategic moat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61188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" cy="3611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63040" y="12984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Brand Memory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90195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Brain is the intelligence layer that makes NEXUS AI different from every other AI tool.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and remembers: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Your brand voice, tone, and style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2095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 audience profiles and pain points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538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Competitor landscape and positioning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8679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Past campaign performance and learnings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197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Winning hooks, CTAs, and content angles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Uploaded media assets and visual style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143000"/>
            <a:ext cx="1984248" cy="1097280"/>
          </a:xfrm>
          <a:prstGeom prst="rect">
            <a:avLst/>
          </a:prstGeom>
          <a:solidFill>
            <a:srgbClr val="181C3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85232" y="12344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165506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style, writing rules, words to avoid, personality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143000"/>
            <a:ext cx="1984248" cy="1097280"/>
          </a:xfrm>
          <a:prstGeom prst="rect">
            <a:avLst/>
          </a:prstGeom>
          <a:solidFill>
            <a:srgbClr val="181C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88352" y="12344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76288" y="165506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Segments, pain points, desires, demographics, behaviors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377440"/>
            <a:ext cx="1984248" cy="1097280"/>
          </a:xfrm>
          <a:prstGeom prst="rect">
            <a:avLst/>
          </a:prstGeom>
          <a:solidFill>
            <a:srgbClr val="181C3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85232" y="2468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3168" y="288950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names, differentiation angles, market gaps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66560" y="2377440"/>
            <a:ext cx="1984248" cy="1097280"/>
          </a:xfrm>
          <a:prstGeom prst="rect">
            <a:avLst/>
          </a:prstGeom>
          <a:solidFill>
            <a:srgbClr val="181C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88352" y="2468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Offer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6288" y="288950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point, USP, primary offer, value proposition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611880"/>
            <a:ext cx="1984248" cy="1097280"/>
          </a:xfrm>
          <a:prstGeom prst="rect">
            <a:avLst/>
          </a:prstGeom>
          <a:solidFill>
            <a:srgbClr val="181C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285232" y="3703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Learnings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73168" y="412394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failed, best-performing hooks &amp; CTAs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3611880"/>
            <a:ext cx="1984248" cy="1097280"/>
          </a:xfrm>
          <a:prstGeom prst="rect">
            <a:avLst/>
          </a:prstGeom>
          <a:solidFill>
            <a:srgbClr val="181C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76288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388352" y="3703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Assets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76288" y="412394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images, videos, brand colors, visual context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4818888"/>
            <a:ext cx="4023360" cy="201168"/>
          </a:xfrm>
          <a:prstGeom prst="rect">
            <a:avLst/>
          </a:prstGeom>
          <a:solidFill>
            <a:srgbClr val="3D42A0"/>
          </a:solidFill>
          <a:ln w="12700">
            <a:solidFill>
              <a:srgbClr val="3D42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481888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Switching cost: users can't leave without losing all brand intelligence — high retention by design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8B5CF6">
              <a:alpha val="7000"/>
            </a:srgbClr>
          </a:solidFill>
          <a:ln w="12700">
            <a:solidFill>
              <a:srgbClr val="8B5CF6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AI Agents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intelligence — each agent masters a different marketing discipline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2715768" cy="187452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43000"/>
            <a:ext cx="54864" cy="18745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Strategist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Strategy Officer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1938528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market position, defines objectives, builds precise audience segments, maps the full funnel, creates 4-week execution calendar and asset readiness checklist.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36976" y="1143000"/>
            <a:ext cx="2715768" cy="187452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6976" y="1143000"/>
            <a:ext cx="54864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NEX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74136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Director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74136" y="1938528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scripts, captions, hooks, CTAs, and ad copy. Adapts tone, format, and length for each platform and audience segment. Powers the Content Hub.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9904" y="1143000"/>
            <a:ext cx="2715768" cy="187452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9904" y="1143000"/>
            <a:ext cx="54864" cy="1874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PULSE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27064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Orchestrator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27064" y="1938528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all agents, manages the full campaign workflow, ensures every output is connected and brand-consistent across all deliverables.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09928" y="3127248"/>
            <a:ext cx="2715768" cy="17190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9928" y="3127248"/>
            <a:ext cx="54864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47088" y="32186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Visual Director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47088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Lead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47088" y="391363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image prompts, creates detailed creative briefs, analyzes uploaded media assets for brand alignment, and guides visual execution.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62856" y="3127248"/>
            <a:ext cx="2715768" cy="17190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62856" y="3127248"/>
            <a:ext cx="54864" cy="1719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32186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Sentinel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00016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0016" y="391363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and risk reviewer. Checks every campaign for brand safety, logical errors, strategic coherence, and platform compliance before any launch.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 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AI marketing operation — strategy to publish in one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2761488" cy="117043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43000"/>
            <a:ext cx="54864" cy="1170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52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33856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Brain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21208" y="17830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AI brand memory — learns from every campaign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82696" y="1143000"/>
            <a:ext cx="2761488" cy="117043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82696" y="1143000"/>
            <a:ext cx="54864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252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032504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Wizard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19856" y="17830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6-step flow: brief → strategy → content → approval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1143000"/>
            <a:ext cx="2761488" cy="117043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1143000"/>
            <a:ext cx="54864" cy="1170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252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31152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Engine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18504" y="17830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strategy: funnel, audience segments, content angles, calendar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2441448"/>
            <a:ext cx="2761488" cy="117043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441448"/>
            <a:ext cx="54864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5511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33856" y="2532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Hub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1208" y="3081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post drafts, captions, image prompts, status tracking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82696" y="2441448"/>
            <a:ext cx="2761488" cy="117043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82696" y="2441448"/>
            <a:ext cx="5486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9856" y="25511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032504" y="2532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419856" y="3081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+ fal.ai Flux — AI images for every platform post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81344" y="2441448"/>
            <a:ext cx="2761488" cy="117043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81344" y="2441448"/>
            <a:ext cx="54864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25511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931152" y="2532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318504" y="3081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calendar view of all scheduled and published posts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" y="3739896"/>
            <a:ext cx="2761488" cy="117043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3739896"/>
            <a:ext cx="54864" cy="11704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38496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133856" y="38313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Campaign Pack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21208" y="43799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targeting, copy variants, budget guides, ad setup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82696" y="3739896"/>
            <a:ext cx="2761488" cy="117043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82696" y="3739896"/>
            <a:ext cx="54864" cy="11704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19856" y="38496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4032504" y="38313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Publishing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419856" y="43799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publish to Facebook, Instagram, TikTok, LinkedIn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81344" y="3739896"/>
            <a:ext cx="2761488" cy="117043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81344" y="3739896"/>
            <a:ext cx="54864" cy="1170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8504" y="38496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6931152" y="38313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Review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318504" y="43799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QA gate — brand safety, risk scoring, strategic coherence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8B5CF6">
              <a:alpha val="7000"/>
            </a:srgbClr>
          </a:solidFill>
          <a:ln w="12700">
            <a:solidFill>
              <a:srgbClr val="8B5CF6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Plans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Credit-based SaaS — pay for what you use, scale as you grow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2029968" cy="3703320"/>
          </a:xfrm>
          <a:prstGeom prst="rect">
            <a:avLst/>
          </a:prstGeom>
          <a:solidFill>
            <a:srgbClr val="181C35"/>
          </a:solidFill>
          <a:ln w="12700">
            <a:solidFill>
              <a:srgbClr val="6C74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29968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1615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15361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forever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99339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8912" y="24871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 ·  3/month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8346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workspace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32186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AI strategy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36027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posts per month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398678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Limited Brand Brain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437083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14600" y="1170432"/>
            <a:ext cx="2029968" cy="3703320"/>
          </a:xfrm>
          <a:prstGeom prst="rect">
            <a:avLst/>
          </a:prstGeom>
          <a:solidFill>
            <a:srgbClr val="181C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1170432"/>
            <a:ext cx="2029968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21615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06040" y="15361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 /month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199339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606040" y="24871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 ·  10/month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51760" y="28346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campaigns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51760" y="32186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AI strategy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51760" y="36027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posts per month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51760" y="398678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Content Hub access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51760" y="437083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5 AI agents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1069848"/>
            <a:ext cx="1371600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069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81728" y="1170432"/>
            <a:ext cx="2029968" cy="3703320"/>
          </a:xfrm>
          <a:prstGeom prst="rect">
            <a:avLst/>
          </a:prstGeom>
          <a:solidFill>
            <a:srgbClr val="181C35"/>
          </a:solidFill>
          <a:ln w="31750">
            <a:solidFill>
              <a:srgbClr val="636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1728" y="1170432"/>
            <a:ext cx="202996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121615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73168" y="15361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/month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199339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4773168" y="24871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 ·  25/month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18888" y="28346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Starter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18888" y="32186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25 posts per month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18888" y="36027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image generation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18888" y="398678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Paid campaign pack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18888" y="437083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48856" y="1170432"/>
            <a:ext cx="2029968" cy="3703320"/>
          </a:xfrm>
          <a:prstGeom prst="rect">
            <a:avLst/>
          </a:prstGeom>
          <a:solidFill>
            <a:srgbClr val="181C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8856" y="1170432"/>
            <a:ext cx="2029968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121615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40296" y="15361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/month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40296" y="199339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6940296" y="24871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 ·  60/month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86016" y="283464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Growth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86016" y="32186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60 posts per month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86016" y="36027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Multiple workspaces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86016" y="398678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analytics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86016" y="437083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ready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 Margins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SaaS: AI API costs are tiny vs. subscription revenue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77640" cy="361188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" cy="3611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43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Model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SaaS subscriptions at 4 tiers.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$19 → $49 → $99 per 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Credit Economics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6517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 includes a monthly credit bundle. Credits are spent on AI actions. OpenAI + fal.ai API costs are $0.001–$0.053 per action, while users spend 1–8 credits. At $49/month (150 credits), margins range from 87% to 99%.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Retention Moat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95935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Brain accumulates brand intelligence over time. Users cannot replicate this history elsewhere — creating strong lock-in and compounding retention.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1097280"/>
            <a:ext cx="4251960" cy="365760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143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 Margin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463040"/>
            <a:ext cx="1993392" cy="338328"/>
          </a:xfrm>
          <a:prstGeom prst="rect">
            <a:avLst/>
          </a:prstGeom>
          <a:solidFill>
            <a:srgbClr val="10B981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490472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11112" y="1463040"/>
            <a:ext cx="566928" cy="338328"/>
          </a:xfrm>
          <a:prstGeom prst="rect">
            <a:avLst/>
          </a:prstGeom>
          <a:solidFill>
            <a:srgbClr val="10B981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49047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1463040"/>
            <a:ext cx="777240" cy="338328"/>
          </a:xfrm>
          <a:prstGeom prst="rect">
            <a:avLst/>
          </a:prstGeom>
          <a:solidFill>
            <a:srgbClr val="10B981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14904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1463040"/>
            <a:ext cx="658368" cy="338328"/>
          </a:xfrm>
          <a:prstGeom prst="rect">
            <a:avLst/>
          </a:prstGeom>
          <a:solidFill>
            <a:srgbClr val="10B981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9288" y="14904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801368"/>
            <a:ext cx="1993392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18288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Generation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11112" y="1801368"/>
            <a:ext cx="566928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18288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78040" y="1801368"/>
            <a:ext cx="777240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1828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$0.028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955280" y="1801368"/>
            <a:ext cx="658368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9288" y="18288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2139696"/>
            <a:ext cx="1993392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216712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Strategy (All Agents)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11112" y="2139696"/>
            <a:ext cx="566928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216712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2139696"/>
            <a:ext cx="777240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21671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$0.053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955280" y="2139696"/>
            <a:ext cx="658368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19288" y="21671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17720" y="2478024"/>
            <a:ext cx="1993392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250545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(DALL-E)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11112" y="2478024"/>
            <a:ext cx="566928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50545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178040" y="2478024"/>
            <a:ext cx="777240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5054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955280" y="2478024"/>
            <a:ext cx="658368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19288" y="25054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17720" y="2816352"/>
            <a:ext cx="1993392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284378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Plan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611112" y="2816352"/>
            <a:ext cx="566928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284378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178040" y="2816352"/>
            <a:ext cx="777240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42048" y="28437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$0.002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955280" y="2816352"/>
            <a:ext cx="658368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19288" y="284378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617720" y="3154680"/>
            <a:ext cx="1993392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81728" y="3182112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Review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11112" y="3154680"/>
            <a:ext cx="566928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318211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178040" y="3154680"/>
            <a:ext cx="777240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42048" y="31821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$0.001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955280" y="3154680"/>
            <a:ext cx="658368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19288" y="318211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617720" y="3493008"/>
            <a:ext cx="1993392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81728" y="35204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(VEX)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611112" y="3493008"/>
            <a:ext cx="566928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75120" y="35204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178040" y="3493008"/>
            <a:ext cx="777240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42048" y="35204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$0.001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955280" y="3493008"/>
            <a:ext cx="658368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19288" y="35204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617720" y="3831336"/>
            <a:ext cx="1993392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81728" y="385876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611112" y="3831336"/>
            <a:ext cx="566928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75120" y="385876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178040" y="3831336"/>
            <a:ext cx="777240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42048" y="38587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$0.0003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7955280" y="3831336"/>
            <a:ext cx="658368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019288" y="385876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617720" y="4169664"/>
            <a:ext cx="1993392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81728" y="419709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Scan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611112" y="4169664"/>
            <a:ext cx="566928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75120" y="419709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178040" y="4169664"/>
            <a:ext cx="777240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42048" y="41970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7955280" y="4169664"/>
            <a:ext cx="658368" cy="33832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19288" y="419709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617720" y="4507992"/>
            <a:ext cx="1993392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681728" y="45354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Campaign Pack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611112" y="4507992"/>
            <a:ext cx="566928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675120" y="453542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7178040" y="4507992"/>
            <a:ext cx="777240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42048" y="45354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$0.060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955280" y="4507992"/>
            <a:ext cx="658368" cy="338328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019288" y="45354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F43F5E">
              <a:alpha val="7000"/>
            </a:srgbClr>
          </a:solidFill>
          <a:ln w="12700">
            <a:solidFill>
              <a:srgbClr val="F43F5E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Services &amp; Integrations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platform powering the NEXUS AI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4572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43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17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Auth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DB, Supabase Auth, session management, row-level security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42032" y="1170432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170432"/>
            <a:ext cx="45720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1243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79192" y="1517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Engine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79192" y="17647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for strategy &amp; copy, GPT-4o-mini for fast ops, DALL-E 3 for images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18304" y="1170432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18304" y="1170432"/>
            <a:ext cx="45720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1243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fal.ai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55464" y="1517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55464" y="17647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Pro/Schnell image models — premium AI image alternative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94576" y="1170432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94576" y="1170432"/>
            <a:ext cx="45720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1736" y="1243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31736" y="1517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Storage &amp; CDN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31736" y="17647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uploads, media CDN, asset workspace isolation, audit logs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468880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468880"/>
            <a:ext cx="457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&amp; Billing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30632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plans, plan upgrades, webhook events, credit sync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42032" y="2468880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42032" y="2468880"/>
            <a:ext cx="45720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9192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API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79192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/ Instagram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79192" y="30632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posts and stories to FB Pages + Instagram Business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18304" y="2468880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18304" y="2468880"/>
            <a:ext cx="45720" cy="1188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API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55464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Publishing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55464" y="30632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publishing to TikTok Business accounts via official Content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94576" y="2468880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94576" y="2468880"/>
            <a:ext cx="45720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31736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API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31736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Publishing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31736" y="30632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LinkedIn Company Pages and personal profiles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3767328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3767328"/>
            <a:ext cx="457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2920" y="4114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Access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2920" y="43616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and alternative open-source AI models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542032" y="3767328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42032" y="3767328"/>
            <a:ext cx="4572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79192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679192" y="4114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Email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679192" y="43616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password reset, credits-low alerts, campaign notifications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18304" y="3767328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18304" y="3767328"/>
            <a:ext cx="457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55464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855464" y="4114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Monitoring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855464" y="43616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error tracking, performance monitoring, production alerts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894576" y="3767328"/>
            <a:ext cx="2029968" cy="1188720"/>
          </a:xfrm>
          <a:prstGeom prst="rect">
            <a:avLst/>
          </a:prstGeom>
          <a:solidFill>
            <a:srgbClr val="181C3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94576" y="3767328"/>
            <a:ext cx="45720" cy="1188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31736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Redis/Upstash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031736" y="4114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Rate Limiting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031736" y="43616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API rate limits, session caching, queue management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&amp; Environment Variables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list of credentials required to deploy and run NEXUS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43000"/>
            <a:ext cx="45720" cy="4480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795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38988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NEXT_PUBLIC_SUPABASE_URL · NEXT_PUBLIC_SUPABASE_ANON_KEY · SUPABASE_SERVICE_ROLE_KEY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84048" y="1655064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655064"/>
            <a:ext cx="45720" cy="4480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6916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" y="19019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4048" y="2167128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167128"/>
            <a:ext cx="45720" cy="4480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2037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fal.ai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" y="241401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FAL_KEY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4048" y="2679192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679192"/>
            <a:ext cx="45720" cy="4480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715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" y="29260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CLOUDINARY_CLOUD_NAME · CLOUDINARY_API_KEY · CLOUDINARY_API_SECRET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4048" y="3191256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191256"/>
            <a:ext cx="45720" cy="4480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2278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" y="34381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STRIPE_SECRET_KEY · NEXT_PUBLIC_STRIPE_PUBLISHABLE_KEY · STRIPE_WEBHOOK_SECRET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" y="3703320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703320"/>
            <a:ext cx="45720" cy="4480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739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Meta/Facebook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" y="39502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META_APP_ID · META_APP_SECRET · META_WEBHOOK_VERIFY_TOKEN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4215384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4215384"/>
            <a:ext cx="45720" cy="4480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42519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" y="446227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TIKTOK_CLIENT_KEY · TIKTOK_CLIENT_SECRET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91456" y="1143000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1143000"/>
            <a:ext cx="45720" cy="4480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11795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28616" y="138988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LINKEDIN_CLIENT_ID · LINKEDIN_CLIENT_SECRET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791456" y="1655064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91456" y="1655064"/>
            <a:ext cx="45720" cy="4480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28616" y="16916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28616" y="19019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REPLICATE_API_TOKEN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91456" y="2167128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91456" y="2167128"/>
            <a:ext cx="45720" cy="4480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28616" y="22037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28616" y="241401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RESEND_API_KEY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91456" y="2679192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91456" y="2679192"/>
            <a:ext cx="45720" cy="4480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2715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28616" y="29260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SENTRY_DSN · SENTRY_AUTH_TOKEN · NEXT_PUBLIC_SENTRY_DSN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91456" y="3191256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91456" y="3191256"/>
            <a:ext cx="45720" cy="4480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28616" y="32278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Redis/Upstash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28616" y="34381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REDIS_URL (or UPSTASH_REDIS_REST_URL + UPSTASH_REDIS_REST_TOKEN)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91456" y="3703320"/>
            <a:ext cx="4206240" cy="448056"/>
          </a:xfrm>
          <a:prstGeom prst="rect">
            <a:avLst/>
          </a:prstGeom>
          <a:solidFill>
            <a:srgbClr val="101428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91456" y="3703320"/>
            <a:ext cx="45720" cy="448056"/>
          </a:xfrm>
          <a:prstGeom prst="rect">
            <a:avLst/>
          </a:prstGeom>
          <a:solidFill>
            <a:srgbClr val="6C74A8"/>
          </a:solidFill>
          <a:ln w="12700">
            <a:solidFill>
              <a:srgbClr val="6C74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8616" y="3739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Config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928616" y="39502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7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NEXTAUTH_SECRET · NEXTAUTH_URL · NEXT_PUBLIC_APP_URL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lean and production-ready — scales from MVP to enterprise without rebuilding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70432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27632" y="1143000"/>
            <a:ext cx="7059168" cy="47548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1978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 ·  TypeScript  ·  Tailwind CSS  ·  Framer Motion  ·  React Context API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682496"/>
            <a:ext cx="1170432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82496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27632" y="1682496"/>
            <a:ext cx="7059168" cy="47548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7373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 ·  Prisma ORM  ·  JWT Auth  ·  Supabase Auth  ·  Edge Middleware  ·  Rate Limiting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221992"/>
            <a:ext cx="1170432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2199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27632" y="2221992"/>
            <a:ext cx="7059168" cy="47548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22768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Supabase  ·  Prisma Schema  ·  Row-Level Security  ·  Audit Logging  ·  Atomic credit deduction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761488"/>
            <a:ext cx="117043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6148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27632" y="2761488"/>
            <a:ext cx="7059168" cy="47548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2816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(strategy + copy)  ·  GPT-4o-mini (fast ops)  ·  DALL-E 3 (images)  ·  fal.ai Flux  ·  Replicate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300984"/>
            <a:ext cx="117043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0098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27632" y="3300984"/>
            <a:ext cx="7059168" cy="47548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335584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(signed uploads + CDN)  ·  Upload sessions  ·  Workspace isolation  ·  Asset audit logs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117043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048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627632" y="3840480"/>
            <a:ext cx="7059168" cy="47548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0" y="38953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Subscriptions  ·  Webhook events  ·  Credit system synced to plan tier  ·  Atomic deduction locks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379976"/>
            <a:ext cx="1170432" cy="4754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79976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/ Ops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27632" y="4379976"/>
            <a:ext cx="7059168" cy="475488"/>
          </a:xfrm>
          <a:prstGeom prst="rect">
            <a:avLst/>
          </a:prstGeom>
          <a:solidFill>
            <a:srgbClr val="181C35"/>
          </a:solidFill>
          <a:ln w="6350">
            <a:solidFill>
              <a:srgbClr val="2529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44348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Deployment  ·  Redis/Upstash (rate limit + cache)  ·  Sentry (monitoring)  ·  Resend (email)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solidFill>
            <a:srgbClr val="252958"/>
          </a:solidFill>
          <a:ln w="6350">
            <a:solidFill>
              <a:srgbClr val="3D42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81888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Infrastructure cost at launch: ~$50–$200/month (Supabase free tier + Vercel hobby + Cloudinary free) — extremely lean burn rate until significant scale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Infrastructure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architecture from day 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2761488" cy="16642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43000"/>
            <a:ext cx="54864" cy="16642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6187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1261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1755648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+ JWT tokens. All API routes require valid Authorization headers. Secure session management with refresh token rotation.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82696" y="1143000"/>
            <a:ext cx="2761488" cy="16642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82696" y="1143000"/>
            <a:ext cx="54864" cy="16642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26187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95928" y="1261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9856" y="1755648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uploads use Cloudinary signed URLs. Upload sessions are tracked with full audit logs. Workspace isolation prevents any cross-user data access.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1143000"/>
            <a:ext cx="2761488" cy="16642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1143000"/>
            <a:ext cx="54864" cy="16642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26187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94576" y="1261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18504" y="1755648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per-user rate limits on all AI endpoints. Prevents API abuse and controls OpenAI cost spikes in production.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2944368"/>
            <a:ext cx="2761488" cy="16642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944368"/>
            <a:ext cx="54864" cy="16642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0632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97280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Guards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" y="3557016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credit deduction via PostgreSQL's updateMany with conditional WHERE clause. Race conditions prevented — concurrent requests cannot double-spend credits.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82696" y="2944368"/>
            <a:ext cx="2761488" cy="16642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82696" y="2944368"/>
            <a:ext cx="54864" cy="1664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9856" y="30632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995928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Monitoring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19856" y="3557016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integration tracks all production errors in real-time. Performance traces on critical paths: AI generation, uploads, and billing workflows.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81344" y="2944368"/>
            <a:ext cx="2761488" cy="16642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81344" y="2944368"/>
            <a:ext cx="54864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30632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894576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18504" y="3557016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 Edge Network. Global CDN for static assets. Zero-downtime deployments. Auto-scaling under load. Environment variable management via Vercel.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from lean MVP to enterprise marketing platform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097280"/>
            <a:ext cx="2761488" cy="3749040"/>
          </a:xfrm>
          <a:prstGeom prst="rect">
            <a:avLst/>
          </a:prstGeom>
          <a:solidFill>
            <a:srgbClr val="181C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97280"/>
            <a:ext cx="276148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1208" y="11430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1208" y="14630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SaaS MVP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9202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Brand Brain + campaign engine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" y="239572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AI agents (strategy + content)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1208" y="287121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Content Hub + post management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" y="334670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Stripe billing + credit system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" y="382219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Facebook / Instagram publishing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1208" y="42976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Cloudinary media management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82696" y="1097280"/>
            <a:ext cx="2761488" cy="3749040"/>
          </a:xfrm>
          <a:prstGeom prst="rect">
            <a:avLst/>
          </a:prstGeom>
          <a:solidFill>
            <a:srgbClr val="181C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2696" y="1097280"/>
            <a:ext cx="276148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19856" y="11430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19856" y="14630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Automation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19856" y="19202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TikTok + LinkedIn full publish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19856" y="239572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Video script template system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19856" y="287121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A/B testing for campaigns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19856" y="334670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Performance analytics dashboard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19856" y="382219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Campaign cloning + templates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19856" y="42976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Team collaboration features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81344" y="1097280"/>
            <a:ext cx="2761488" cy="3749040"/>
          </a:xfrm>
          <a:prstGeom prst="rect">
            <a:avLst/>
          </a:prstGeom>
          <a:solidFill>
            <a:srgbClr val="181C3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1344" y="1097280"/>
            <a:ext cx="2761488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18504" y="11430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18504" y="14630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18504" y="19202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video generation (media assembly)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18504" y="239572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Agency white-label mode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18504" y="287121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 AI model fine-tuning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18504" y="334670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Advanced attribution tracking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18504" y="382219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Webhook + API access for devs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18504" y="42976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Multi-brand workspace management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Architecture is designed to scale to Phase 3 without a rebuild — the lean foundation supports future enterprise features.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57400" y="-2057400"/>
            <a:ext cx="5029200" cy="5029200"/>
          </a:xfrm>
          <a:prstGeom prst="ellipse">
            <a:avLst/>
          </a:prstGeom>
          <a:solidFill>
            <a:srgbClr val="6366F1">
              <a:alpha val="13000"/>
            </a:srgbClr>
          </a:solidFill>
          <a:ln w="12700">
            <a:solidFill>
              <a:srgbClr val="6366F1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46520" y="2514600"/>
            <a:ext cx="3200400" cy="3200400"/>
          </a:xfrm>
          <a:prstGeom prst="ellipse">
            <a:avLst/>
          </a:prstGeom>
          <a:solidFill>
            <a:srgbClr val="8B5CF6">
              <a:alpha val="11000"/>
            </a:srgbClr>
          </a:solidFill>
          <a:ln w="12700">
            <a:solidFill>
              <a:srgbClr val="8B5CF6">
                <a:alpha val="11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1800" y="685800"/>
            <a:ext cx="3200400" cy="32004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AI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Marketing Operating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78892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53796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Margin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3977640"/>
            <a:ext cx="4023360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977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Together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raoufnaguib44@gmail.com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AI Partner Deck</dc:title>
  <dc:subject>PptxGenJS Presentation</dc:subject>
  <dc:creator>NEXUS AI</dc:creator>
  <cp:lastModifiedBy>NEXUS AI</cp:lastModifiedBy>
  <cp:revision>1</cp:revision>
  <dcterms:created xsi:type="dcterms:W3CDTF">2026-06-10T06:32:53Z</dcterms:created>
  <dcterms:modified xsi:type="dcterms:W3CDTF">2026-06-10T06:32:53Z</dcterms:modified>
</cp:coreProperties>
</file>