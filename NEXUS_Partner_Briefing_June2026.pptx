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3152"/>
            <a:ext cx="6858000" cy="6711696"/>
          </a:xfrm>
          <a:prstGeom prst="rect">
            <a:avLst/>
          </a:prstGeom>
          <a:solidFill>
            <a:srgbClr val="070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0" y="73152"/>
            <a:ext cx="5330952" cy="6711696"/>
          </a:xfrm>
          <a:prstGeom prst="rect">
            <a:avLst/>
          </a:prstGeom>
          <a:solidFill>
            <a:srgbClr val="0D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0" y="1097280"/>
            <a:ext cx="3474720" cy="3474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371600"/>
            <a:ext cx="2926080" cy="2926080"/>
          </a:xfrm>
          <a:prstGeom prst="rect">
            <a:avLst/>
          </a:prstGeom>
          <a:solidFill>
            <a:srgbClr val="0D0E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1828800"/>
            <a:ext cx="2011680" cy="2011680"/>
          </a:xfrm>
          <a:prstGeom prst="rect">
            <a:avLst/>
          </a:prstGeom>
          <a:solidFill>
            <a:srgbClr val="13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90688" y="2267712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8B5CF6"/>
                </a:solidFill>
                <a:latin typeface="Arial Black"/>
              </a:rPr>
              <a:t>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28016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Arial Black"/>
              </a:rPr>
              <a:t>NEXUS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3172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8B5CF6"/>
                </a:solidFill>
                <a:latin typeface="Calibri"/>
              </a:rPr>
              <a:t>Your AI Marketing Department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017520"/>
            <a:ext cx="41148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2004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  <a:latin typeface="Calibri"/>
              </a:rPr>
              <a:t>Partner Briefing — Current State, Financial Study &amp; Roadmap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74903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June 2026  |  Confidential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0" y="1371600"/>
            <a:ext cx="4572000" cy="1005840"/>
          </a:xfrm>
          <a:prstGeom prst="rect">
            <a:avLst/>
          </a:prstGeom>
          <a:solidFill>
            <a:srgbClr val="10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78040" y="1444752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6B6D4"/>
                </a:solidFill>
                <a:latin typeface="Arial Black"/>
              </a:rPr>
              <a:t>20+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161848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  <a:latin typeface="Calibri"/>
              </a:rPr>
              <a:t>Feature Modules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0" y="2487168"/>
            <a:ext cx="4572000" cy="1005840"/>
          </a:xfrm>
          <a:prstGeom prst="rect">
            <a:avLst/>
          </a:prstGeom>
          <a:solidFill>
            <a:srgbClr val="10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78040" y="2560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6B6D4"/>
                </a:solidFill>
                <a:latin typeface="Arial Black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273405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  <a:latin typeface="Calibri"/>
              </a:rPr>
              <a:t>Pricing Tiers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0" y="3602736"/>
            <a:ext cx="4572000" cy="1005840"/>
          </a:xfrm>
          <a:prstGeom prst="rect">
            <a:avLst/>
          </a:prstGeom>
          <a:solidFill>
            <a:srgbClr val="10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78040" y="3675887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6B6D4"/>
                </a:solidFill>
                <a:latin typeface="Arial Black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384962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  <a:latin typeface="Calibri"/>
              </a:rPr>
              <a:t>Live Social Platforms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0" y="4718304"/>
            <a:ext cx="4572000" cy="1005840"/>
          </a:xfrm>
          <a:prstGeom prst="rect">
            <a:avLst/>
          </a:prstGeom>
          <a:solidFill>
            <a:srgbClr val="1011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78040" y="4791456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6B6D4"/>
                </a:solidFill>
                <a:latin typeface="Arial Black"/>
              </a:rPr>
              <a:t>94%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496519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  <a:latin typeface="Calibri"/>
              </a:rPr>
              <a:t>Avg AI Margin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Where NEXUS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3716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3657600" cy="5120640"/>
          </a:xfrm>
          <a:prstGeom prst="rect">
            <a:avLst/>
          </a:prstGeom>
          <a:solidFill>
            <a:srgbClr val="0F102A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365760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✅  What's Built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75688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96596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Full campaign workflow (brief → strategy → content → publish)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24328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51460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4 AI Agents: NEX, VEX, PULSE, Sentinel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172968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063239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Meta, LinkedIn &amp; TikTok OAuth integrations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721607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611879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Stripe billing with 4 subscription tiers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270248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1605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Brand Intelligence system (Brand Brain)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818888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70916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Media uploads via Cloudinary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367528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525780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Dashboard + onboarding flow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916168"/>
            <a:ext cx="731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8064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Bilingual (AR/EN) interface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1371600"/>
            <a:ext cx="3657600" cy="5120640"/>
          </a:xfrm>
          <a:prstGeom prst="rect">
            <a:avLst/>
          </a:prstGeom>
          <a:solidFill>
            <a:srgbClr val="0F102A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7680" y="1371600"/>
            <a:ext cx="365760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40" y="1417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⚠️  Gaps to Go-Live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2075688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81728" y="196596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Google Ads real OAuth (placeholder only)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80560" y="2624328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81728" y="251460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GMB (Google My Business) — not built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80560" y="3172968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81728" y="3063239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Real-time competitor data (GPT-only now)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80560" y="3721607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81728" y="3611879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Email / notification system for prod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80560" y="4270248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81728" y="41605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Full automated test coverage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80560" y="4818888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81728" y="470916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Admin analytics panel (partial)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80560" y="5367528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81728" y="525780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Production monitoring / alerting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80560" y="5916168"/>
            <a:ext cx="731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81728" y="58064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Legal pages + cookie compliance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0" y="1371600"/>
            <a:ext cx="3657600" cy="5120640"/>
          </a:xfrm>
          <a:prstGeom prst="rect">
            <a:avLst/>
          </a:prstGeom>
          <a:solidFill>
            <a:srgbClr val="0F102A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229600" y="1371600"/>
            <a:ext cx="365760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66760" y="14173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🚀  90-Day Potential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412480" y="2075688"/>
            <a:ext cx="731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13648" y="196596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Complete Google Ads + GMB integration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12480" y="2624328"/>
            <a:ext cx="731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13648" y="251460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Real-time Sentinel (NewsAPI + SerpAPI)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412480" y="3172968"/>
            <a:ext cx="731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13648" y="3063239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100+ beta users onboarded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12480" y="3721607"/>
            <a:ext cx="731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13648" y="3611879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First paying customers (Starter tier)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412480" y="4270248"/>
            <a:ext cx="731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13648" y="41605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Agency white-label framework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12480" y="4818888"/>
            <a:ext cx="731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13648" y="470916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AI video storyboard generation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412480" y="5367528"/>
            <a:ext cx="731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13648" y="525780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Performance analytics dashboard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412480" y="5916168"/>
            <a:ext cx="731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13648" y="580644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Partnership channel launch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PRODUCT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Not a Content Tool. An AI Marketing Department.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22860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303520" cy="4937760"/>
          </a:xfrm>
          <a:prstGeom prst="rect">
            <a:avLst/>
          </a:prstGeom>
          <a:solidFill>
            <a:srgbClr val="0F102A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303520" cy="457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9047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❌  Most AI Tools Are...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Calibri"/>
              </a:rPr>
              <a:t>—  Single-use prompt boxes with no memory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Calibri"/>
              </a:rPr>
              <a:t>—  Content generators with zero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83279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Calibri"/>
              </a:rPr>
              <a:t>—  Disconnected from business goals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23359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Calibri"/>
              </a:rPr>
              <a:t>—  No brand consistency across campaigns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634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Calibri"/>
              </a:rPr>
              <a:t>—  Cannot learn from past campaigns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035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  <a:latin typeface="Calibri"/>
              </a:rPr>
              <a:t>—  No workflow — just output &amp; copy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463040"/>
            <a:ext cx="5577840" cy="4937760"/>
          </a:xfrm>
          <a:prstGeom prst="rect">
            <a:avLst/>
          </a:prstGeom>
          <a:solidFill>
            <a:srgbClr val="0F102A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463040"/>
            <a:ext cx="5577840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49047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✅  NEXUS Is...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2167127"/>
            <a:ext cx="91440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103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  <a:latin typeface="Calibri"/>
              </a:rPr>
              <a:t>AI Strategist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37743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Generates full campaign strategy with positioning &amp; targeting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834639"/>
            <a:ext cx="91440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7706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  <a:latin typeface="Calibri"/>
              </a:rPr>
              <a:t>Campaign Planner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044951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Manages campaigns end-to-end with a complete wizard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3502151"/>
            <a:ext cx="91440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43814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  <a:latin typeface="Calibri"/>
              </a:rPr>
              <a:t>Content System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712463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Creates captions, hooks, CTAs, and a content calendar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4169664"/>
            <a:ext cx="91440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10565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  <a:latin typeface="Calibri"/>
              </a:rPr>
              <a:t>Brand Memory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37997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Remembers your brand voice, colors, competitors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4837176"/>
            <a:ext cx="91440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7731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  <a:latin typeface="Calibri"/>
              </a:rPr>
              <a:t>Platform Publisher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504748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Publishes directly to Meta, LinkedIn, TikTok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5504688"/>
            <a:ext cx="91440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544067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  <a:latin typeface="Calibri"/>
              </a:rPr>
              <a:t>Growth Engine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571499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Competitor tracking, paid ads planning, A/B concepts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PRODUCT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Full Feature Map — 20+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548640"/>
            <a:ext cx="137160" cy="137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30768" y="53035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alibri"/>
              </a:rPr>
              <a:t>Built &amp; Live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9875520" y="548640"/>
            <a:ext cx="137160" cy="137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76688" y="5303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  <a:latin typeface="Calibri"/>
              </a:rPr>
              <a:t>Partial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0" y="548640"/>
            <a:ext cx="137160" cy="137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73968" y="53035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F4444"/>
                </a:solidFill>
                <a:latin typeface="Calibri"/>
              </a:rPr>
              <a:t>Planned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325880"/>
            <a:ext cx="2788920" cy="914400"/>
          </a:xfrm>
          <a:prstGeom prst="rect">
            <a:avLst/>
          </a:prstGeom>
          <a:solidFill>
            <a:srgbClr val="0F102A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3716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3990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180136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  <a:latin typeface="Calibri"/>
              </a:rPr>
              <a:t>Live stats, activity feed, onboarding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80360" y="1389888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395728"/>
            <a:ext cx="2788920" cy="914400"/>
          </a:xfrm>
          <a:prstGeom prst="rect">
            <a:avLst/>
          </a:prstGeom>
          <a:solidFill>
            <a:srgbClr val="0F102A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24414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4688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Campaign Wizard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2871216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  <a:latin typeface="Calibri"/>
              </a:rPr>
              <a:t>Full brief → strategy → content flow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80360" y="2459736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465576"/>
            <a:ext cx="2788920" cy="914400"/>
          </a:xfrm>
          <a:prstGeom prst="rect">
            <a:avLst/>
          </a:prstGeom>
          <a:solidFill>
            <a:srgbClr val="0F102A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79" y="351129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5387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Brand Brain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79" y="3941064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  <a:latin typeface="Calibri"/>
              </a:rPr>
              <a:t>Brand memory, voice, competitors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80360" y="3529584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4535424"/>
            <a:ext cx="2788920" cy="914400"/>
          </a:xfrm>
          <a:prstGeom prst="rect">
            <a:avLst/>
          </a:prstGeom>
          <a:solidFill>
            <a:srgbClr val="0F102A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79" y="458114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60857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Strategy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79" y="501091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  <a:latin typeface="Calibri"/>
              </a:rPr>
              <a:t>GPT-4o full strategy generation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80360" y="4599432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5605272"/>
            <a:ext cx="2788920" cy="914400"/>
          </a:xfrm>
          <a:prstGeom prst="rect">
            <a:avLst/>
          </a:prstGeom>
          <a:solidFill>
            <a:srgbClr val="0F102A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565099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✍️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67842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Content Hub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79" y="608076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  <a:latin typeface="Calibri"/>
              </a:rPr>
              <a:t>Post captions, hooks, CTAs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80360" y="5669280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46120" y="1325880"/>
            <a:ext cx="2788920" cy="914400"/>
          </a:xfrm>
          <a:prstGeom prst="rect">
            <a:avLst/>
          </a:prstGeom>
          <a:solidFill>
            <a:srgbClr val="0F102A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37560" y="13716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49040" y="13990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Media Studio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37560" y="180136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  <a:latin typeface="Calibri"/>
              </a:rPr>
              <a:t>Cloudinary uploads, branded overlays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06440" y="1389888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46120" y="2395728"/>
            <a:ext cx="2788920" cy="914400"/>
          </a:xfrm>
          <a:prstGeom prst="rect">
            <a:avLst/>
          </a:prstGeom>
          <a:solidFill>
            <a:srgbClr val="0F102A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37560" y="24414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🖼️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49040" y="24688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Image Generator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2871216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  <a:latin typeface="Calibri"/>
              </a:rPr>
              <a:t>DALL-E 3 + Flux 1.1 Pro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06440" y="2459736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46120" y="3465576"/>
            <a:ext cx="2788920" cy="914400"/>
          </a:xfrm>
          <a:prstGeom prst="rect">
            <a:avLst/>
          </a:prstGeom>
          <a:solidFill>
            <a:srgbClr val="0F102A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37560" y="351129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📅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49040" y="35387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Content Calendar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37560" y="3941064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  <a:latin typeface="Calibri"/>
              </a:rPr>
              <a:t>Schedule &amp; visual calendar view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806440" y="3529584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246120" y="4535424"/>
            <a:ext cx="2788920" cy="914400"/>
          </a:xfrm>
          <a:prstGeom prst="rect">
            <a:avLst/>
          </a:prstGeom>
          <a:solidFill>
            <a:srgbClr val="0F102A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37560" y="458114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49040" y="460857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Social Connect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37560" y="501091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  <a:latin typeface="Calibri"/>
              </a:rPr>
              <a:t>Meta, LinkedIn, TikTok OAuth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806440" y="4599432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246120" y="5605272"/>
            <a:ext cx="2788920" cy="914400"/>
          </a:xfrm>
          <a:prstGeom prst="rect">
            <a:avLst/>
          </a:prstGeom>
          <a:solidFill>
            <a:srgbClr val="0F102A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337560" y="565099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749040" y="567842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Paid Ads (VEX)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37560" y="608076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  <a:latin typeface="Calibri"/>
              </a:rPr>
              <a:t>FB/IG/Google/LinkedIn copy generator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806440" y="5669280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172200" y="1325880"/>
            <a:ext cx="2788920" cy="914400"/>
          </a:xfrm>
          <a:prstGeom prst="rect">
            <a:avLst/>
          </a:prstGeom>
          <a:solidFill>
            <a:srgbClr val="0F102A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63640" y="13716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75120" y="13990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AI Agents System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63640" y="180136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  <a:latin typeface="Calibri"/>
              </a:rPr>
              <a:t>NEX, VEX, PULSE, Sentinel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732520" y="1389888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72200" y="2395728"/>
            <a:ext cx="2788920" cy="914400"/>
          </a:xfrm>
          <a:prstGeom prst="rect">
            <a:avLst/>
          </a:prstGeom>
          <a:solidFill>
            <a:srgbClr val="0F102A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263640" y="24414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👁️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75120" y="24688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Sentinel Monitor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63640" y="2871216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  <a:latin typeface="Calibri"/>
              </a:rPr>
              <a:t>Competitor tracking (GPT, not live)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732520" y="2459736"/>
            <a:ext cx="109728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72200" y="3465576"/>
            <a:ext cx="2788920" cy="914400"/>
          </a:xfrm>
          <a:prstGeom prst="rect">
            <a:avLst/>
          </a:prstGeom>
          <a:solidFill>
            <a:srgbClr val="0F102A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63640" y="351129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675120" y="35387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Billing / Stripe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63640" y="3941064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  <a:latin typeface="Calibri"/>
              </a:rPr>
              <a:t>4 plans, webhooks, credit system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732520" y="3529584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172200" y="4535424"/>
            <a:ext cx="2788920" cy="914400"/>
          </a:xfrm>
          <a:prstGeom prst="rect">
            <a:avLst/>
          </a:prstGeom>
          <a:solidFill>
            <a:srgbClr val="0F102A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63640" y="458114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675120" y="460857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Bilingual UI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63640" y="501091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  <a:latin typeface="Calibri"/>
              </a:rPr>
              <a:t>Full Arabic + English support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732520" y="4599432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172200" y="5605272"/>
            <a:ext cx="2788920" cy="914400"/>
          </a:xfrm>
          <a:prstGeom prst="rect">
            <a:avLst/>
          </a:prstGeom>
          <a:solidFill>
            <a:srgbClr val="0F102A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263640" y="565099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📱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675120" y="567842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Onboarding Flow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263640" y="608076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  <a:latin typeface="Calibri"/>
              </a:rPr>
              <a:t>6-step guided user journey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732520" y="5669280"/>
            <a:ext cx="109728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098280" y="1325880"/>
            <a:ext cx="2788920" cy="914400"/>
          </a:xfrm>
          <a:prstGeom prst="rect">
            <a:avLst/>
          </a:prstGeom>
          <a:solidFill>
            <a:srgbClr val="0F102A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189720" y="13716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📈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601200" y="139903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Analytics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189720" y="1801368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  <a:latin typeface="Calibri"/>
              </a:rPr>
              <a:t>Basic stats, full analytics partial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1658600" y="1389888"/>
            <a:ext cx="109728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098280" y="2395728"/>
            <a:ext cx="2788920" cy="914400"/>
          </a:xfrm>
          <a:prstGeom prst="rect">
            <a:avLst/>
          </a:prstGeom>
          <a:solidFill>
            <a:srgbClr val="0F102A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189720" y="24414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🎨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601200" y="24688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Template Library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189720" y="2871216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  <a:latin typeface="Calibri"/>
              </a:rPr>
              <a:t>Framework built, templates limited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1658600" y="2459736"/>
            <a:ext cx="109728" cy="1097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9098280" y="3465576"/>
            <a:ext cx="2788920" cy="914400"/>
          </a:xfrm>
          <a:prstGeom prst="rect">
            <a:avLst/>
          </a:prstGeom>
          <a:solidFill>
            <a:srgbClr val="0F102A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189720" y="351129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📣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601200" y="35387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Google Ads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189720" y="3941064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  <a:latin typeface="Calibri"/>
              </a:rPr>
              <a:t>OAuth placeholder — not connected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1658600" y="3529584"/>
            <a:ext cx="109728" cy="1097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098280" y="4535424"/>
            <a:ext cx="2788920" cy="914400"/>
          </a:xfrm>
          <a:prstGeom prst="rect">
            <a:avLst/>
          </a:prstGeom>
          <a:solidFill>
            <a:srgbClr val="0F102A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189720" y="458114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📍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601200" y="460857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Google My Business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189720" y="501091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  <a:latin typeface="Calibri"/>
              </a:rPr>
              <a:t>Not built yet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1658600" y="4599432"/>
            <a:ext cx="109728" cy="1097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098280" y="5605272"/>
            <a:ext cx="2788920" cy="914400"/>
          </a:xfrm>
          <a:prstGeom prst="rect">
            <a:avLst/>
          </a:prstGeom>
          <a:solidFill>
            <a:srgbClr val="0F102A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189720" y="565099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🏢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601200" y="567842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Agency Portal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189720" y="608076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CA3AF"/>
                </a:solidFill>
                <a:latin typeface="Calibri"/>
              </a:rPr>
              <a:t>White-label framework planned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1658600" y="5669280"/>
            <a:ext cx="109728" cy="1097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Calibri"/>
              </a:rPr>
              <a:t>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Platform Architecture &amp; Tech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8288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2788920" cy="5074920"/>
          </a:xfrm>
          <a:prstGeom prst="rect">
            <a:avLst/>
          </a:prstGeom>
          <a:solidFill>
            <a:srgbClr val="0F102A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2788920" cy="43891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40817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" y="2103120"/>
            <a:ext cx="54864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Next.js 14 (App Router)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2971799"/>
            <a:ext cx="54864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34639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TypeScript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3840480"/>
            <a:ext cx="54864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70332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Tailwind CSS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" y="4709160"/>
            <a:ext cx="54864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57200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React Hooks + Context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" y="5577840"/>
            <a:ext cx="54864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440679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i18n (AR/EN)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18688" y="1371600"/>
            <a:ext cx="2788920" cy="5074920"/>
          </a:xfrm>
          <a:prstGeom prst="rect">
            <a:avLst/>
          </a:prstGeom>
          <a:solidFill>
            <a:srgbClr val="0F102A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18688" y="1371600"/>
            <a:ext cx="2788920" cy="43891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140817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19856" y="2103120"/>
            <a:ext cx="54864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84448" y="19659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Next.js API Routes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19856" y="2971799"/>
            <a:ext cx="54864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84448" y="2834639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Prisma ORM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19856" y="3840480"/>
            <a:ext cx="54864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84448" y="370332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PostgreSQL / Supabase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19856" y="4709160"/>
            <a:ext cx="54864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84448" y="457200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Supabase Auth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19856" y="5577840"/>
            <a:ext cx="54864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84448" y="5440679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Server-side session mgmt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63056" y="1371600"/>
            <a:ext cx="2788920" cy="5074920"/>
          </a:xfrm>
          <a:prstGeom prst="rect">
            <a:avLst/>
          </a:prstGeom>
          <a:solidFill>
            <a:srgbClr val="0F102A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63056" y="1371600"/>
            <a:ext cx="2788920" cy="43891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72784" y="140817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AI LAYER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64224" y="2103120"/>
            <a:ext cx="5486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28816" y="19659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OpenAI GPT-4o (strategy)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64224" y="2971799"/>
            <a:ext cx="5486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28816" y="2834639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GPT-4o-mini (content, copy)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64224" y="3840480"/>
            <a:ext cx="5486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28816" y="370332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DALL-E 3 (images)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64224" y="4709160"/>
            <a:ext cx="5486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28816" y="457200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Flux 1.1 Pro / fal.ai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64224" y="5577840"/>
            <a:ext cx="54864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28816" y="5440679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Custom prompt templates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07424" y="1371600"/>
            <a:ext cx="2788920" cy="5074920"/>
          </a:xfrm>
          <a:prstGeom prst="rect">
            <a:avLst/>
          </a:prstGeom>
          <a:solidFill>
            <a:srgbClr val="0F102A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107424" y="1371600"/>
            <a:ext cx="2788920" cy="43891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7152" y="140817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INFRA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308592" y="2103120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473184" y="19659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Vercel (hosting + crons)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308592" y="2971799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73184" y="2834639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Cloudinary (media CDN)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308592" y="3840480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473184" y="370332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Stripe (billing)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308592" y="4709160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73184" y="457200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Resend (email)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308592" y="5577840"/>
            <a:ext cx="54864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473184" y="5440679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Meta / LinkedIn / TikTok APIs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6492240"/>
            <a:ext cx="11640312" cy="274320"/>
          </a:xfrm>
          <a:prstGeom prst="rect">
            <a:avLst/>
          </a:prstGeom>
          <a:solidFill>
            <a:srgbClr val="1A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64922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Calibri"/>
              </a:rPr>
              <a:t>✓ Low burn  ✓ Vercel free tier  ✓ Supabase free tier  ✓ Scales to thousands of users  ✓ No DevOps required  ✓ Fast iteration cycle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The Four Agents Powering NEXUS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8288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2788920" cy="5120640"/>
          </a:xfrm>
          <a:prstGeom prst="rect">
            <a:avLst/>
          </a:prstGeom>
          <a:solidFill>
            <a:srgbClr val="0F102A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2788920" cy="685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389888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40817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 Black"/>
              </a:rPr>
              <a:t>NEX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7190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Chief Strategy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176272"/>
            <a:ext cx="257860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The brain of NEXUS. Orchestrates full campaign strategy, brand positioning, audience segmentation, and campaign brief generation.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" y="3172968"/>
            <a:ext cx="64008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59" y="306324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Full campaign strategy (GPT-4o)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" y="3648456"/>
            <a:ext cx="64008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59" y="3538728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Audience &amp; persona modeling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" y="4123944"/>
            <a:ext cx="64008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59" y="4014216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Brand voice adaptation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4599432"/>
            <a:ext cx="64008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59" y="4489704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Campaign brief generation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" y="5074920"/>
            <a:ext cx="64008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59" y="4965192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Creative direction &amp; concepts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" y="6126480"/>
            <a:ext cx="2560320" cy="2560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13562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💳  5–8 credits / run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18688" y="1371600"/>
            <a:ext cx="2788920" cy="5120640"/>
          </a:xfrm>
          <a:prstGeom prst="rect">
            <a:avLst/>
          </a:prstGeom>
          <a:solidFill>
            <a:srgbClr val="0F102A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18688" y="1371600"/>
            <a:ext cx="2788920" cy="685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28416" y="1389888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✍️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13048" y="140817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 Black"/>
              </a:rPr>
              <a:t>VEX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13048" y="17190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Ad Copy Specialist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28416" y="2176272"/>
            <a:ext cx="257860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Writes high-converting ad copy for every platform. Facebook, Instagram, Google, LinkedIn, TikTok, Snapchat — tailored to format and objective.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83280" y="3172968"/>
            <a:ext cx="64008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38728" y="306324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Multi-platform ad copy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83280" y="3648456"/>
            <a:ext cx="64008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38728" y="3538728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Hook + CTA generation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83280" y="4123944"/>
            <a:ext cx="64008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38728" y="4014216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A/B variant creation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83280" y="4599432"/>
            <a:ext cx="64008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38728" y="4489704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Tone &amp; voice matching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83280" y="5074920"/>
            <a:ext cx="64008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38728" y="4965192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GPT-4o-mini powered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28416" y="6126480"/>
            <a:ext cx="2560320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47288" y="613562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💳  2 credits / run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63056" y="1371600"/>
            <a:ext cx="2788920" cy="5120640"/>
          </a:xfrm>
          <a:prstGeom prst="rect">
            <a:avLst/>
          </a:prstGeom>
          <a:solidFill>
            <a:srgbClr val="0F102A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63056" y="1371600"/>
            <a:ext cx="2788920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72784" y="1389888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57416" y="140817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 Black"/>
              </a:rPr>
              <a:t>PULSE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57416" y="17190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Content &amp; Calendar Agent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72784" y="2176272"/>
            <a:ext cx="257860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Manages the content pipeline. Generates full content plans, social post calendars, captions, and schedules — all synced to campaign goals.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27648" y="3172968"/>
            <a:ext cx="64008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83096" y="306324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Content calendar generation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27648" y="3648456"/>
            <a:ext cx="64008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83096" y="3538728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Post caption writing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27648" y="4123944"/>
            <a:ext cx="64008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83096" y="4014216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Image prompt generation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27648" y="4599432"/>
            <a:ext cx="64008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83096" y="4489704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Schedule management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27648" y="5074920"/>
            <a:ext cx="64008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83096" y="4965192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Content Hub publishing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72784" y="6126480"/>
            <a:ext cx="2560320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91656" y="613562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💳  2 credits / plan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07424" y="1371600"/>
            <a:ext cx="2788920" cy="5120640"/>
          </a:xfrm>
          <a:prstGeom prst="rect">
            <a:avLst/>
          </a:prstGeom>
          <a:solidFill>
            <a:srgbClr val="0F102A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107424" y="1371600"/>
            <a:ext cx="2788920" cy="685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217152" y="1389888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👁️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01784" y="140817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 Black"/>
              </a:rPr>
              <a:t>SENTINEL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701784" y="17190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Competitive Intelligence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217152" y="2176272"/>
            <a:ext cx="257860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Monitors the competitive landscape. Currently GPT-powered analysis. Roadmap: real-time data via NewsAPI + SerpAPI for live intelligence.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272016" y="3172968"/>
            <a:ext cx="64008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427464" y="3063240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Competitor analysis reports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272016" y="3648456"/>
            <a:ext cx="64008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427464" y="3538728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Market positioning insights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272016" y="4123944"/>
            <a:ext cx="64008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427464" y="4014216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Threat &amp; opportunity flags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272016" y="4599432"/>
            <a:ext cx="64008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427464" y="4489704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GPT analysis (live data: Q3 2026)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272016" y="5074920"/>
            <a:ext cx="64008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427464" y="4965192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Campaign quality review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217152" y="6126480"/>
            <a:ext cx="2560320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336024" y="613562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💳  2 credits / 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The Complete Campaign Journey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8288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2743200" cy="2286000"/>
          </a:xfrm>
          <a:prstGeom prst="rect">
            <a:avLst/>
          </a:prstGeom>
          <a:solidFill>
            <a:srgbClr val="0F102A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502920" cy="502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508760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55448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  <a:latin typeface="Calibri"/>
              </a:rPr>
              <a:t>Brief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User describes product, goal, audience &amp; budget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54679" y="2331720"/>
            <a:ext cx="91440" cy="27432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36391" y="2167127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417320"/>
            <a:ext cx="2743200" cy="2286000"/>
          </a:xfrm>
          <a:prstGeom prst="rect">
            <a:avLst/>
          </a:prstGeom>
          <a:solidFill>
            <a:srgbClr val="0F102A"/>
          </a:solidFill>
          <a:ln w="9525">
            <a:solidFill>
              <a:srgbClr val="A8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1508760"/>
            <a:ext cx="502920" cy="502920"/>
          </a:xfrm>
          <a:prstGeom prst="rect">
            <a:avLst/>
          </a:prstGeom>
          <a:solidFill>
            <a:srgbClr val="A8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1508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1508760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155448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85CF6"/>
                </a:solidFill>
                <a:latin typeface="Calibri"/>
              </a:rPr>
              <a:t>Brand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2167128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Brand Brain pulls stored voice, colors &amp; competitors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60" y="2331720"/>
            <a:ext cx="91440" cy="27432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62472" y="2167127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417320"/>
            <a:ext cx="2743200" cy="2286000"/>
          </a:xfrm>
          <a:prstGeom prst="rect">
            <a:avLst/>
          </a:prstGeom>
          <a:solidFill>
            <a:srgbClr val="0F102A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1508760"/>
            <a:ext cx="502920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1508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1508760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155448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  <a:latin typeface="Calibri"/>
              </a:rPr>
              <a:t>Strategy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167128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NEX generates positioning, hooks, targeting &amp; content plan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06840" y="2331720"/>
            <a:ext cx="91440" cy="27432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88552" y="2167127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  <a:latin typeface="Calibri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0" y="1417320"/>
            <a:ext cx="2743200" cy="2286000"/>
          </a:xfrm>
          <a:prstGeom prst="rect">
            <a:avLst/>
          </a:prstGeom>
          <a:solidFill>
            <a:srgbClr val="0F102A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235440" y="1508760"/>
            <a:ext cx="50292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35440" y="1508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1508760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✍️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78440" y="155448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Content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2167128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PULSE writes captions, CTAs, image prompts for each post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069080"/>
            <a:ext cx="2743200" cy="2286000"/>
          </a:xfrm>
          <a:prstGeom prst="rect">
            <a:avLst/>
          </a:prstGeom>
          <a:solidFill>
            <a:srgbClr val="0F102A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4160520"/>
            <a:ext cx="50292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41605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4160520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00200" y="420624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Visuals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818888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Studio generates AI images (DALL-E 3 / Flux) with brand overlay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54679" y="4983480"/>
            <a:ext cx="91440" cy="27432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136391" y="4818888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  <a:latin typeface="Calibri"/>
              </a:rPr>
              <a:t>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91840" y="4069080"/>
            <a:ext cx="2743200" cy="2286000"/>
          </a:xfrm>
          <a:prstGeom prst="rect">
            <a:avLst/>
          </a:prstGeom>
          <a:solidFill>
            <a:srgbClr val="0F102A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383280" y="4160520"/>
            <a:ext cx="502920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83280" y="41605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23360" y="4160520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👁️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26280" y="420624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  <a:latin typeface="Calibri"/>
              </a:rPr>
              <a:t>Review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83280" y="4818888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Sentinel quality gate — risk analysis, compliance check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80760" y="4983480"/>
            <a:ext cx="91440" cy="27432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62472" y="4818888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  <a:latin typeface="Calibri"/>
              </a:rPr>
              <a:t>→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17920" y="4069080"/>
            <a:ext cx="2743200" cy="2286000"/>
          </a:xfrm>
          <a:prstGeom prst="rect">
            <a:avLst/>
          </a:prstGeom>
          <a:solidFill>
            <a:srgbClr val="0F102A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09360" y="4160520"/>
            <a:ext cx="502920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9360" y="41605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49440" y="4160520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📅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52360" y="420624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  <a:latin typeface="Calibri"/>
              </a:rPr>
              <a:t>Schedule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09360" y="4818888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Calendar scheduling + preview before publishing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006840" y="4983480"/>
            <a:ext cx="91440" cy="27432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988552" y="4818888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  <a:latin typeface="Calibri"/>
              </a:rPr>
              <a:t>→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44000" y="4069080"/>
            <a:ext cx="2743200" cy="2286000"/>
          </a:xfrm>
          <a:prstGeom prst="rect">
            <a:avLst/>
          </a:prstGeom>
          <a:solidFill>
            <a:srgbClr val="0F102A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235440" y="4160520"/>
            <a:ext cx="50292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235440" y="41605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875520" y="4160520"/>
            <a:ext cx="457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"/>
              </a:rPr>
              <a:t>🚀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378440" y="420624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Publish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235440" y="4818888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One-click publish to Meta, LinkedIn, TikTok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Calibri"/>
              </a:rPr>
              <a:t>INTEGRATIONS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Social Platform Connections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8288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3657600" cy="2377440"/>
          </a:xfrm>
          <a:prstGeom prst="rect">
            <a:avLst/>
          </a:prstGeom>
          <a:solidFill>
            <a:srgbClr val="0F102A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3657600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426464"/>
            <a:ext cx="438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426464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Meta (Facebook + Instagram)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69164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LIVE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93392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19933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Full OAuth 2.0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340864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34086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Page selection &amp; token storage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688336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68833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Post creation &amp; image upload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035808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0358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Instagram Business posting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38328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383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Insights &amp; reach data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1371600"/>
            <a:ext cx="3657600" cy="2377440"/>
          </a:xfrm>
          <a:prstGeom prst="rect">
            <a:avLst/>
          </a:prstGeom>
          <a:solidFill>
            <a:srgbClr val="0F102A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1371600"/>
            <a:ext cx="3657600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07408" y="1426464"/>
            <a:ext cx="438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8032" y="1426464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LinkedIn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28032" y="169164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LIVE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1993392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5152" y="19933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Full OAuth 2.0 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2340864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5152" y="234086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Company page + personal profile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2688336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45152" y="268833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Text, image &amp; link posts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3035808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45152" y="30358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Professional content formatting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338328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45152" y="3383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Token refresh handling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1371600"/>
            <a:ext cx="3657600" cy="2377440"/>
          </a:xfrm>
          <a:prstGeom prst="rect">
            <a:avLst/>
          </a:prstGeom>
          <a:solidFill>
            <a:srgbClr val="0F102A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9600" y="1371600"/>
            <a:ext cx="3657600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7" y="1426464"/>
            <a:ext cx="438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59952" y="1426464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TikTok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59952" y="169164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LIVE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1993392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77072" y="19933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Full OAuth 2.0 flow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66760" y="2340864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77072" y="234086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Business account posting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66760" y="2688336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77072" y="268833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Caption + hashtag generation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66760" y="3035808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77072" y="30358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Review UI for creator codes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66760" y="338328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77072" y="3383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Video post framework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3977639"/>
            <a:ext cx="3657600" cy="2377440"/>
          </a:xfrm>
          <a:prstGeom prst="rect">
            <a:avLst/>
          </a:prstGeom>
          <a:solidFill>
            <a:srgbClr val="0F102A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65760" y="3977639"/>
            <a:ext cx="3657600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5488" y="4032503"/>
            <a:ext cx="438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📣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6112" y="4032503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Google Ads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6112" y="4297679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PLANNED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4599431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3232" y="4599431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UI placeholder built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" y="4946903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·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3232" y="4946903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OAuth flow: not implemented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920" y="5294375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·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3232" y="5294375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Campaign manager: not connected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2920" y="5641848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·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3232" y="56418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Bid &amp; budget management: Q3 2026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2920" y="5989319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·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13232" y="598931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Audience sync: Q3 2026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297680" y="3977639"/>
            <a:ext cx="3657600" cy="2377440"/>
          </a:xfrm>
          <a:prstGeom prst="rect">
            <a:avLst/>
          </a:prstGeom>
          <a:solidFill>
            <a:srgbClr val="0F102A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97680" y="3977639"/>
            <a:ext cx="3657600" cy="47548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407408" y="4032503"/>
            <a:ext cx="438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📍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28032" y="4032503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Google My Business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28032" y="4297679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NOT BUILT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434840" y="4599431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  <a:latin typeface="Calibri"/>
              </a:rPr>
              <a:t>·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645152" y="4599431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No UI or API built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434840" y="4946903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  <a:latin typeface="Calibri"/>
              </a:rPr>
              <a:t>·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645152" y="4946903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Critical for local businesses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434840" y="5294375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  <a:latin typeface="Calibri"/>
              </a:rPr>
              <a:t>·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645152" y="5294375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Posts, updates, reviews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434840" y="5641848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  <a:latin typeface="Calibri"/>
              </a:rPr>
              <a:t>·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645152" y="56418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Priority: Q3 2026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434840" y="5989319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  <a:latin typeface="Calibri"/>
              </a:rPr>
              <a:t>·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645152" y="598931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Est. 2–3 weeks to build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229600" y="3977639"/>
            <a:ext cx="3657600" cy="2377440"/>
          </a:xfrm>
          <a:prstGeom prst="rect">
            <a:avLst/>
          </a:prstGeom>
          <a:solidFill>
            <a:srgbClr val="0F102A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229600" y="3977639"/>
            <a:ext cx="3657600" cy="47548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339327" y="4032503"/>
            <a:ext cx="438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👻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759952" y="4032503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Snapchat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759952" y="4297679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PLANNED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366760" y="4599431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  <a:latin typeface="Calibri"/>
              </a:rPr>
              <a:t>·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577072" y="4599431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UI card visible in connections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366760" y="4946903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  <a:latin typeface="Calibri"/>
              </a:rPr>
              <a:t>·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577072" y="4946903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OAuth: not implemented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366760" y="5294375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  <a:latin typeface="Calibri"/>
              </a:rPr>
              <a:t>·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577072" y="5294375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Snap Ads API: planned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366760" y="5641848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  <a:latin typeface="Calibri"/>
              </a:rPr>
              <a:t>·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577072" y="56418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Priority: Q4 2026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366760" y="5989319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  <a:latin typeface="Calibri"/>
              </a:rPr>
              <a:t>·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577072" y="598931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Depends on Snap Ads approval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4-Tier Subscription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8288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788920" cy="5303520"/>
          </a:xfrm>
          <a:prstGeom prst="rect">
            <a:avLst/>
          </a:prstGeom>
          <a:solidFill>
            <a:srgbClr val="0F102A"/>
          </a:solidFill>
          <a:ln w="952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2788920" cy="4572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417320"/>
            <a:ext cx="2578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 Black"/>
              </a:rPr>
              <a:t>FREE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38528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rial Black"/>
              </a:rPr>
              <a:t>$0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42032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  <a:latin typeface="Calibri"/>
              </a:rPr>
              <a:t>one-time starter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80360"/>
            <a:ext cx="2240280" cy="256032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98648"/>
            <a:ext cx="2240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10 credits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3273552"/>
            <a:ext cx="201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CA3A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273552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1 workspace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3712464"/>
            <a:ext cx="201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CA3A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712464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10 AI credits (one-time)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4151376"/>
            <a:ext cx="201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CA3A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151376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1 campaign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4590288"/>
            <a:ext cx="201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CA3A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590288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5 posts / 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5029200"/>
            <a:ext cx="201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CA3AF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5029200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Core AI features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5468112"/>
            <a:ext cx="201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CA3AF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468112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No social publishing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" y="6291072"/>
            <a:ext cx="2578608" cy="256032"/>
          </a:xfrm>
          <a:prstGeom prst="rect">
            <a:avLst/>
          </a:prstGeom>
          <a:solidFill>
            <a:srgbClr val="1A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" y="6300216"/>
            <a:ext cx="2578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9CA3AF"/>
                </a:solidFill>
                <a:latin typeface="Calibri"/>
              </a:rPr>
              <a:t>Evaluation only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10128" y="1371600"/>
            <a:ext cx="2788920" cy="5303520"/>
          </a:xfrm>
          <a:prstGeom prst="rect">
            <a:avLst/>
          </a:prstGeom>
          <a:solidFill>
            <a:srgbClr val="0F102A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10128" y="1371600"/>
            <a:ext cx="278892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19856" y="1417320"/>
            <a:ext cx="2578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 Black"/>
              </a:rPr>
              <a:t>STARTER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01568" y="1938528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rial Black"/>
              </a:rPr>
              <a:t>$19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01568" y="2542032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  <a:latin typeface="Calibri"/>
              </a:rPr>
              <a:t>per month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84448" y="2880360"/>
            <a:ext cx="2240280" cy="2560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84448" y="2898648"/>
            <a:ext cx="2240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50 credits/mo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3273552"/>
            <a:ext cx="201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  <a:latin typeface="Calibr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94176" y="3273552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1 workspace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3712464"/>
            <a:ext cx="201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  <a:latin typeface="Calibr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94176" y="3712464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50 AI credits / month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0" y="4151376"/>
            <a:ext cx="201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  <a:latin typeface="Calibr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94176" y="4151376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2 campaigns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74720" y="4590288"/>
            <a:ext cx="201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  <a:latin typeface="Calibri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94176" y="4590288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10 posts / month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5029200"/>
            <a:ext cx="201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  <a:latin typeface="Calibri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94176" y="5029200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All AI agents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74720" y="5468112"/>
            <a:ext cx="201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94176" y="5468112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Social publishing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19856" y="6291072"/>
            <a:ext cx="2578608" cy="256032"/>
          </a:xfrm>
          <a:prstGeom prst="rect">
            <a:avLst/>
          </a:prstGeom>
          <a:solidFill>
            <a:srgbClr val="1A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19856" y="6300216"/>
            <a:ext cx="2578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9CA3AF"/>
                </a:solidFill>
                <a:latin typeface="Calibri"/>
              </a:rPr>
              <a:t>Freelancers &amp; solo marketers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54496" y="1371600"/>
            <a:ext cx="2788920" cy="5303520"/>
          </a:xfrm>
          <a:prstGeom prst="rect">
            <a:avLst/>
          </a:prstGeom>
          <a:solidFill>
            <a:srgbClr val="0F102A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54496" y="1371600"/>
            <a:ext cx="2788920" cy="2560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64224" y="1371600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⭐  MOST POPULAR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54496" y="1645920"/>
            <a:ext cx="2788920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64224" y="1691640"/>
            <a:ext cx="2578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 Black"/>
              </a:rPr>
              <a:t>GROWTH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45936" y="2212848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rial Black"/>
              </a:rPr>
              <a:t>$49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45936" y="2816352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  <a:latin typeface="Calibri"/>
              </a:rPr>
              <a:t>per month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28816" y="3154680"/>
            <a:ext cx="2240280" cy="2560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28816" y="3172968"/>
            <a:ext cx="2240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150 credits/mo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19088" y="3547872"/>
            <a:ext cx="201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  <a:latin typeface="Calibri"/>
              </a:rPr>
              <a:t>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38544" y="3547872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3 workspaces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19088" y="3986783"/>
            <a:ext cx="201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  <a:latin typeface="Calibri"/>
              </a:rP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38544" y="3986783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150 AI credits / month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19088" y="4425696"/>
            <a:ext cx="201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  <a:latin typeface="Calibri"/>
              </a:rPr>
              <a:t>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38544" y="4425696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5 campaigns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19088" y="4864608"/>
            <a:ext cx="201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  <a:latin typeface="Calibri"/>
              </a:rPr>
              <a:t>✓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38544" y="4864608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25 posts / month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19088" y="5303520"/>
            <a:ext cx="201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  <a:latin typeface="Calibri"/>
              </a:rPr>
              <a:t>✓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38544" y="5303520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All AI agents + Sentinel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19088" y="5742431"/>
            <a:ext cx="201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  <a:latin typeface="Calibri"/>
              </a:rPr>
              <a:t>✓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38544" y="5742431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Priority support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364224" y="6291072"/>
            <a:ext cx="2578608" cy="256032"/>
          </a:xfrm>
          <a:prstGeom prst="rect">
            <a:avLst/>
          </a:prstGeom>
          <a:solidFill>
            <a:srgbClr val="1A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64224" y="6300216"/>
            <a:ext cx="2578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9CA3AF"/>
                </a:solidFill>
                <a:latin typeface="Calibri"/>
              </a:rPr>
              <a:t>Growing SMBs &amp; agencies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198864" y="1371600"/>
            <a:ext cx="2788920" cy="5303520"/>
          </a:xfrm>
          <a:prstGeom prst="rect">
            <a:avLst/>
          </a:prstGeom>
          <a:solidFill>
            <a:srgbClr val="0F102A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198864" y="1371600"/>
            <a:ext cx="278892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308592" y="1417320"/>
            <a:ext cx="2578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 Black"/>
              </a:rPr>
              <a:t>AGENCY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290304" y="1938528"/>
            <a:ext cx="2606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rial Black"/>
              </a:rPr>
              <a:t>$99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290304" y="2542032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  <a:latin typeface="Calibri"/>
              </a:rPr>
              <a:t>per month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473184" y="2880360"/>
            <a:ext cx="2240280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473184" y="2898648"/>
            <a:ext cx="2240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500 credits/mo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363456" y="3273552"/>
            <a:ext cx="201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✓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582912" y="3273552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10 workspaces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363456" y="3712464"/>
            <a:ext cx="201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✓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582912" y="3712464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500 AI credits / month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363456" y="4151376"/>
            <a:ext cx="201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✓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582912" y="4151376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Unlimited campaigns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363456" y="4590288"/>
            <a:ext cx="201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✓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582912" y="4590288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60 posts / month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363456" y="5029200"/>
            <a:ext cx="201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✓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582912" y="5029200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All features + white-label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363456" y="5468112"/>
            <a:ext cx="201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✓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582912" y="5468112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Dedicated onboarding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308592" y="6291072"/>
            <a:ext cx="2578608" cy="256032"/>
          </a:xfrm>
          <a:prstGeom prst="rect">
            <a:avLst/>
          </a:prstGeom>
          <a:solidFill>
            <a:srgbClr val="1A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308592" y="6300216"/>
            <a:ext cx="25786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9CA3AF"/>
                </a:solidFill>
                <a:latin typeface="Calibri"/>
              </a:rPr>
              <a:t>Agencies &amp; enterprises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FINANCIALS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Revenue Model &amp; MRR Projections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8288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303520" cy="5166360"/>
          </a:xfrm>
          <a:prstGeom prst="rect">
            <a:avLst/>
          </a:prstGeom>
          <a:solidFill>
            <a:srgbClr val="0F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📈  Monthly Recurring Revenue Scenarios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20240"/>
            <a:ext cx="5029200" cy="1325880"/>
          </a:xfrm>
          <a:prstGeom prst="rect">
            <a:avLst/>
          </a:prstGeom>
          <a:solidFill>
            <a:srgbClr val="131435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  <a:latin typeface="Calibri"/>
              </a:rPr>
              <a:t>Conservative  (Month 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591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  <a:latin typeface="Calibri"/>
              </a:rPr>
              <a:t>50 Starter + 20 Growth + 5 Agency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7004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 Black"/>
              </a:rPr>
              <a:t>$1,895 MRR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67004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B6D4"/>
                </a:solidFill>
                <a:latin typeface="Calibri"/>
              </a:rPr>
              <a:t>$22,740 ARR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447288"/>
            <a:ext cx="5029200" cy="1325880"/>
          </a:xfrm>
          <a:prstGeom prst="rect">
            <a:avLst/>
          </a:prstGeom>
          <a:solidFill>
            <a:srgbClr val="131435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5387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Moderate  (Month 9)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8862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  <a:latin typeface="Calibri"/>
              </a:rPr>
              <a:t>150 Starter + 60 Growth + 15 Agency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197096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 Black"/>
              </a:rPr>
              <a:t>$5,835 MRR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197096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Calibri"/>
              </a:rPr>
              <a:t>$70,020 ARR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974336"/>
            <a:ext cx="5029200" cy="1325880"/>
          </a:xfrm>
          <a:prstGeom prst="rect">
            <a:avLst/>
          </a:prstGeom>
          <a:solidFill>
            <a:srgbClr val="131435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065775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Optimistic  (Month 12)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41324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CA3AF"/>
                </a:solidFill>
                <a:latin typeface="Calibri"/>
              </a:rPr>
              <a:t>400 Starter + 200 Growth + 50 Agency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724144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Arial Black"/>
              </a:rPr>
              <a:t>$22,400 MRR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5724144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  <a:latin typeface="Calibri"/>
              </a:rPr>
              <a:t>$268,800 ARR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1371600"/>
            <a:ext cx="5623560" cy="5166360"/>
          </a:xfrm>
          <a:prstGeom prst="rect">
            <a:avLst/>
          </a:prstGeom>
          <a:solidFill>
            <a:srgbClr val="0F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  <a:latin typeface="Calibri"/>
              </a:rPr>
              <a:t>💰  Unit Economics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1938528"/>
            <a:ext cx="5303520" cy="530352"/>
          </a:xfrm>
          <a:prstGeom prst="rect">
            <a:avLst/>
          </a:prstGeom>
          <a:solidFill>
            <a:srgbClr val="13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198424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Average Revenue Per User (ARPU)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2011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6B6D4"/>
                </a:solidFill>
                <a:latin typeface="Calibri"/>
              </a:rPr>
              <a:t>$38/mo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2560320"/>
            <a:ext cx="5303520" cy="530352"/>
          </a:xfrm>
          <a:prstGeom prst="rect">
            <a:avLst/>
          </a:prstGeom>
          <a:solidFill>
            <a:srgbClr val="13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26060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Estimated CAC (content marketing)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263347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59E0B"/>
                </a:solidFill>
                <a:latin typeface="Calibri"/>
              </a:rPr>
              <a:t>$45–80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3182112"/>
            <a:ext cx="5303520" cy="530352"/>
          </a:xfrm>
          <a:prstGeom prst="rect">
            <a:avLst/>
          </a:prstGeom>
          <a:solidFill>
            <a:srgbClr val="13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3227832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Payback Period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325526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0B981"/>
                </a:solidFill>
                <a:latin typeface="Calibri"/>
              </a:rPr>
              <a:t>1.5–2.5 months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3803904"/>
            <a:ext cx="5303520" cy="530352"/>
          </a:xfrm>
          <a:prstGeom prst="rect">
            <a:avLst/>
          </a:prstGeom>
          <a:solidFill>
            <a:srgbClr val="13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384962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Gross Margin (software only)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387705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0B981"/>
                </a:solidFill>
                <a:latin typeface="Calibri"/>
              </a:rPr>
              <a:t>~85%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4425696"/>
            <a:ext cx="5303520" cy="530352"/>
          </a:xfrm>
          <a:prstGeom prst="rect">
            <a:avLst/>
          </a:prstGeom>
          <a:solidFill>
            <a:srgbClr val="13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4471416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Churn Target (monthly)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44988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8B5CF6"/>
                </a:solidFill>
                <a:latin typeface="Calibri"/>
              </a:rPr>
              <a:t>&lt; 3%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5047488"/>
            <a:ext cx="5303520" cy="530352"/>
          </a:xfrm>
          <a:prstGeom prst="rect">
            <a:avLst/>
          </a:prstGeom>
          <a:solidFill>
            <a:srgbClr val="13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6520" y="5093208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LTV (12-month retention @ 97%)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0" y="5120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06B6D4"/>
                </a:solidFill>
                <a:latin typeface="Calibri"/>
              </a:rPr>
              <a:t>$380–570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63640" y="5669280"/>
            <a:ext cx="5303520" cy="530352"/>
          </a:xfrm>
          <a:prstGeom prst="rect">
            <a:avLst/>
          </a:prstGeom>
          <a:solidFill>
            <a:srgbClr val="13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46520" y="57150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CA3AF"/>
                </a:solidFill>
                <a:latin typeface="Calibri"/>
              </a:rPr>
              <a:t>LTV : CAC Ratio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574243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0B981"/>
                </a:solidFill>
                <a:latin typeface="Calibri"/>
              </a:rPr>
              <a:t>5–8x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COST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AI Credit Costs &amp; Gross Margins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8288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7132320" cy="5212080"/>
          </a:xfrm>
          <a:prstGeom prst="rect">
            <a:avLst/>
          </a:prstGeom>
          <a:solidFill>
            <a:srgbClr val="0F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44752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🔬  Per-Action AI Cost &amp; Revenue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874519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Credits Charged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187451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API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1874519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Revenue @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874519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Gross Margin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76272"/>
            <a:ext cx="6949440" cy="27432"/>
          </a:xfrm>
          <a:prstGeom prst="rect">
            <a:avLst/>
          </a:prstGeom>
          <a:solidFill>
            <a:srgbClr val="1E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286000"/>
            <a:ext cx="6949440" cy="457200"/>
          </a:xfrm>
          <a:prstGeom prst="rect">
            <a:avLst/>
          </a:prstGeom>
          <a:solidFill>
            <a:srgbClr val="13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34086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Campaign Generation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234086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5 credits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234086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$0.028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2340864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$0.163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34086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0B981"/>
                </a:solidFill>
                <a:latin typeface="Calibri"/>
              </a:rPr>
              <a:t>83%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770632"/>
            <a:ext cx="6949440" cy="457200"/>
          </a:xfrm>
          <a:prstGeom prst="rect">
            <a:avLst/>
          </a:prstGeom>
          <a:solidFill>
            <a:srgbClr val="0F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82549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Run Full Strategy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282549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8 credits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39" y="2825496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$0.053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2825496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$0.261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2825496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0B981"/>
                </a:solidFill>
                <a:latin typeface="Calibri"/>
              </a:rPr>
              <a:t>80%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255264"/>
            <a:ext cx="6949440" cy="457200"/>
          </a:xfrm>
          <a:prstGeom prst="rect">
            <a:avLst/>
          </a:prstGeom>
          <a:solidFill>
            <a:srgbClr val="13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31012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Creative Brief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31012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3 credits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77639" y="331012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$0.017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3480" y="331012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$0.098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331012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0B981"/>
                </a:solidFill>
                <a:latin typeface="Calibri"/>
              </a:rPr>
              <a:t>83%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739896"/>
            <a:ext cx="6949440" cy="457200"/>
          </a:xfrm>
          <a:prstGeom prst="rect">
            <a:avLst/>
          </a:prstGeom>
          <a:solidFill>
            <a:srgbClr val="0F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3794759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Image Generation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97480" y="3794759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3 credits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77639" y="3794759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$0.040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83480" y="3794759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$0.098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794759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59E0B"/>
                </a:solidFill>
                <a:latin typeface="Calibri"/>
              </a:rPr>
              <a:t>59%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4224528"/>
            <a:ext cx="6949440" cy="457200"/>
          </a:xfrm>
          <a:prstGeom prst="rect">
            <a:avLst/>
          </a:prstGeom>
          <a:solidFill>
            <a:srgbClr val="13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427939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Paid Ads Copy (VEX)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97480" y="427939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2 credits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77639" y="427939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$0.001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83480" y="427939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$0.065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427939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0B981"/>
                </a:solidFill>
                <a:latin typeface="Calibri"/>
              </a:rPr>
              <a:t>98%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4709160"/>
            <a:ext cx="6949440" cy="457200"/>
          </a:xfrm>
          <a:prstGeom prst="rect">
            <a:avLst/>
          </a:prstGeom>
          <a:solidFill>
            <a:srgbClr val="0F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4764024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Sentinel Review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97480" y="476402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2 credits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77639" y="476402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$0.001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83480" y="4764024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$0.065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76402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0B981"/>
                </a:solidFill>
                <a:latin typeface="Calibri"/>
              </a:rPr>
              <a:t>98%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5193792"/>
            <a:ext cx="6949440" cy="457200"/>
          </a:xfrm>
          <a:prstGeom prst="rect">
            <a:avLst/>
          </a:prstGeom>
          <a:solidFill>
            <a:srgbClr val="13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" y="5248655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Content Plan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97480" y="5248655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2 credits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77639" y="5248655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$0.002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83480" y="5248655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$0.065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5248655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0B981"/>
                </a:solidFill>
                <a:latin typeface="Calibri"/>
              </a:rPr>
              <a:t>97%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" y="5678424"/>
            <a:ext cx="6949440" cy="457200"/>
          </a:xfrm>
          <a:prstGeom prst="rect">
            <a:avLst/>
          </a:prstGeom>
          <a:solidFill>
            <a:srgbClr val="0F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" y="573328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Chat Message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697480" y="573328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1 credit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77639" y="573328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$0.0003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83480" y="573328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$0.033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46520" y="573328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0B981"/>
                </a:solidFill>
                <a:latin typeface="Calibri"/>
              </a:rPr>
              <a:t>99%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2920" y="6163056"/>
            <a:ext cx="6949440" cy="457200"/>
          </a:xfrm>
          <a:prstGeom prst="rect">
            <a:avLst/>
          </a:prstGeom>
          <a:solidFill>
            <a:srgbClr val="13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2920" y="621792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AI Post Rewrite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697480" y="621792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1 credit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977639" y="621792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$0.0003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983480" y="621792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$0.033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46520" y="621792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0B981"/>
                </a:solidFill>
                <a:latin typeface="Calibri"/>
              </a:rPr>
              <a:t>99%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2920" y="6473952"/>
            <a:ext cx="7040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  <a:latin typeface="Calibri"/>
              </a:rPr>
              <a:t>* Growth plan: 150 credits = $1.63 / user / month in AI API costs vs $49 revenue = 96.7% gross margin on credits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955279" y="1371600"/>
            <a:ext cx="3840480" cy="5212080"/>
          </a:xfrm>
          <a:prstGeom prst="rect">
            <a:avLst/>
          </a:prstGeom>
          <a:solidFill>
            <a:srgbClr val="0F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138160" y="144475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Calibri"/>
              </a:rPr>
              <a:t>☁️  Monthly Infrastructure Cost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092440" y="1938528"/>
            <a:ext cx="3520440" cy="502920"/>
          </a:xfrm>
          <a:prstGeom prst="rect">
            <a:avLst/>
          </a:prstGeom>
          <a:solidFill>
            <a:srgbClr val="13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229600" y="1984248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Vercel (Hobby → Pro)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15600" y="1984248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06B6D4"/>
                </a:solidFill>
                <a:latin typeface="Calibri"/>
              </a:rPr>
              <a:t>$0 → $20/mo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92440" y="2532888"/>
            <a:ext cx="3520440" cy="502920"/>
          </a:xfrm>
          <a:prstGeom prst="rect">
            <a:avLst/>
          </a:prstGeom>
          <a:solidFill>
            <a:srgbClr val="13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229600" y="2578608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Supabase (Free → Pro)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515600" y="2578608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06B6D4"/>
                </a:solidFill>
                <a:latin typeface="Calibri"/>
              </a:rPr>
              <a:t>$0 → $25/mo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092440" y="3127248"/>
            <a:ext cx="3520440" cy="502920"/>
          </a:xfrm>
          <a:prstGeom prst="rect">
            <a:avLst/>
          </a:prstGeom>
          <a:solidFill>
            <a:srgbClr val="13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229600" y="3172968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Cloudinary (Free → Paid)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515600" y="3172968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06B6D4"/>
                </a:solidFill>
                <a:latin typeface="Calibri"/>
              </a:rPr>
              <a:t>$0 → $89/mo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092440" y="3721608"/>
            <a:ext cx="3520440" cy="502920"/>
          </a:xfrm>
          <a:prstGeom prst="rect">
            <a:avLst/>
          </a:prstGeom>
          <a:solidFill>
            <a:srgbClr val="13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229600" y="3767328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OpenAI API (usage-based)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515600" y="3767328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06B6D4"/>
                </a:solidFill>
                <a:latin typeface="Calibri"/>
              </a:rPr>
              <a:t>~$50–200/mo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092440" y="4315968"/>
            <a:ext cx="3520440" cy="502920"/>
          </a:xfrm>
          <a:prstGeom prst="rect">
            <a:avLst/>
          </a:prstGeom>
          <a:solidFill>
            <a:srgbClr val="13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229600" y="4361688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Resend Email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515600" y="4361688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06B6D4"/>
                </a:solidFill>
                <a:latin typeface="Calibri"/>
              </a:rPr>
              <a:t>$0 → $20/mo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092440" y="4910328"/>
            <a:ext cx="3520440" cy="502920"/>
          </a:xfrm>
          <a:prstGeom prst="rect">
            <a:avLst/>
          </a:prstGeom>
          <a:solidFill>
            <a:srgbClr val="13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229600" y="4956048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Stripe fees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515600" y="4956048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06B6D4"/>
                </a:solidFill>
                <a:latin typeface="Calibri"/>
              </a:rPr>
              <a:t>2.9% + $0.30 / txn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092440" y="5504688"/>
            <a:ext cx="3520440" cy="502920"/>
          </a:xfrm>
          <a:prstGeom prst="rect">
            <a:avLst/>
          </a:prstGeom>
          <a:solidFill>
            <a:srgbClr val="13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229600" y="5550408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Domain + misc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515600" y="5550408"/>
            <a:ext cx="1188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0" i="0">
                <a:solidFill>
                  <a:srgbClr val="06B6D4"/>
                </a:solidFill>
                <a:latin typeface="Calibri"/>
              </a:rPr>
              <a:t>~$20/mo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092440" y="6080760"/>
            <a:ext cx="3520440" cy="384048"/>
          </a:xfrm>
          <a:prstGeom prst="rect">
            <a:avLst/>
          </a:prstGeom>
          <a:solidFill>
            <a:srgbClr val="1E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229600" y="60990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MVP Monthly Burn (pre-revenue):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515600" y="609904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0B981"/>
                </a:solidFill>
                <a:latin typeface="Calibri"/>
              </a:rPr>
              <a:t>~$200/mo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GO-LIVE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What's Done vs. What's Needed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8288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74552" cy="365760"/>
          </a:xfrm>
          <a:prstGeom prst="rect">
            <a:avLst/>
          </a:prstGeom>
          <a:solidFill>
            <a:srgbClr val="1A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7891272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8988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Overall Go-Live Readiness:  70% Complete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1389888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59E0B"/>
                </a:solidFill>
                <a:latin typeface="Calibri"/>
              </a:rPr>
              <a:t>30% remaining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38528"/>
            <a:ext cx="5623560" cy="402336"/>
          </a:xfrm>
          <a:prstGeom prst="rect">
            <a:avLst/>
          </a:prstGeom>
          <a:solidFill>
            <a:srgbClr val="101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1984248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B981"/>
                </a:solidFill>
                <a:latin typeface="Calibri"/>
              </a:rPr>
              <a:t>✅ 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1984248"/>
            <a:ext cx="3840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Campaign wizard end-to-end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414016"/>
            <a:ext cx="5623560" cy="402336"/>
          </a:xfrm>
          <a:prstGeom prst="rect">
            <a:avLst/>
          </a:prstGeom>
          <a:solidFill>
            <a:srgbClr val="101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2459736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B981"/>
                </a:solidFill>
                <a:latin typeface="Calibri"/>
              </a:rPr>
              <a:t>✅ DONE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4752" y="2459736"/>
            <a:ext cx="3840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AI agents (NEX, VEX, PULSE, Sentinel)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889504"/>
            <a:ext cx="5623560" cy="402336"/>
          </a:xfrm>
          <a:prstGeom prst="rect">
            <a:avLst/>
          </a:prstGeom>
          <a:solidFill>
            <a:srgbClr val="101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2935224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B981"/>
                </a:solidFill>
                <a:latin typeface="Calibri"/>
              </a:rPr>
              <a:t>✅ DONE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4752" y="2935224"/>
            <a:ext cx="3840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Brand Brain + memory system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364992"/>
            <a:ext cx="5623560" cy="402336"/>
          </a:xfrm>
          <a:prstGeom prst="rect">
            <a:avLst/>
          </a:prstGeom>
          <a:solidFill>
            <a:srgbClr val="101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3410712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B981"/>
                </a:solidFill>
                <a:latin typeface="Calibri"/>
              </a:rPr>
              <a:t>✅ DONE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4752" y="3410712"/>
            <a:ext cx="3840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Bilingual UI (AR + EN)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840480"/>
            <a:ext cx="5623560" cy="402336"/>
          </a:xfrm>
          <a:prstGeom prst="rect">
            <a:avLst/>
          </a:prstGeom>
          <a:solidFill>
            <a:srgbClr val="101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" y="3886200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B981"/>
                </a:solidFill>
                <a:latin typeface="Calibri"/>
              </a:rPr>
              <a:t>✅ DONE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4752" y="3886200"/>
            <a:ext cx="3840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Meta (Facebook + Instagram) OAuth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315968"/>
            <a:ext cx="5623560" cy="402336"/>
          </a:xfrm>
          <a:prstGeom prst="rect">
            <a:avLst/>
          </a:prstGeom>
          <a:solidFill>
            <a:srgbClr val="101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4361688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B981"/>
                </a:solidFill>
                <a:latin typeface="Calibri"/>
              </a:rPr>
              <a:t>✅ DONE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44752" y="4361688"/>
            <a:ext cx="3840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LinkedIn OAuth + posting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791456"/>
            <a:ext cx="5623560" cy="402336"/>
          </a:xfrm>
          <a:prstGeom prst="rect">
            <a:avLst/>
          </a:prstGeom>
          <a:solidFill>
            <a:srgbClr val="101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" y="4837176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B981"/>
                </a:solidFill>
                <a:latin typeface="Calibri"/>
              </a:rPr>
              <a:t>✅ DONE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44752" y="4837176"/>
            <a:ext cx="3840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TikTok OAuth + posting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266944"/>
            <a:ext cx="5623560" cy="402336"/>
          </a:xfrm>
          <a:prstGeom prst="rect">
            <a:avLst/>
          </a:prstGeom>
          <a:solidFill>
            <a:srgbClr val="101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" y="5312664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B981"/>
                </a:solidFill>
                <a:latin typeface="Calibri"/>
              </a:rPr>
              <a:t>✅ DONE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44752" y="5312664"/>
            <a:ext cx="3840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Stripe 4-plan setup + webhooks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742432"/>
            <a:ext cx="5623560" cy="402336"/>
          </a:xfrm>
          <a:prstGeom prst="rect">
            <a:avLst/>
          </a:prstGeom>
          <a:solidFill>
            <a:srgbClr val="101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5788152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B981"/>
                </a:solidFill>
                <a:latin typeface="Calibri"/>
              </a:rPr>
              <a:t>✅ DONE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44752" y="5788152"/>
            <a:ext cx="3840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Credit system + usage tracking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6217920"/>
            <a:ext cx="5623560" cy="402336"/>
          </a:xfrm>
          <a:prstGeom prst="rect">
            <a:avLst/>
          </a:prstGeom>
          <a:solidFill>
            <a:srgbClr val="101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" y="6263640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B981"/>
                </a:solidFill>
                <a:latin typeface="Calibri"/>
              </a:rPr>
              <a:t>✅ DONE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44752" y="6263640"/>
            <a:ext cx="3840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Cloudinary media uploads + overlays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1938528"/>
            <a:ext cx="5623560" cy="402336"/>
          </a:xfrm>
          <a:prstGeom prst="rect">
            <a:avLst/>
          </a:prstGeom>
          <a:solidFill>
            <a:srgbClr val="101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82512" y="1984248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0B981"/>
                </a:solidFill>
                <a:latin typeface="Calibri"/>
              </a:rPr>
              <a:t>✅ DONE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88352" y="1984248"/>
            <a:ext cx="3840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Onboarding checklist + welcome flow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2414016"/>
            <a:ext cx="5623560" cy="402336"/>
          </a:xfrm>
          <a:prstGeom prst="rect">
            <a:avLst/>
          </a:prstGeom>
          <a:solidFill>
            <a:srgbClr val="101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82512" y="2459736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9E0B"/>
                </a:solidFill>
                <a:latin typeface="Calibri"/>
              </a:rPr>
              <a:t>⚠️ PARTIAL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88352" y="2459736"/>
            <a:ext cx="3840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Google Ads (UI only, no OAuth)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338560" y="2487168"/>
            <a:ext cx="530352" cy="23774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356848" y="2487168"/>
            <a:ext cx="5120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9360" y="2889504"/>
            <a:ext cx="5623560" cy="402336"/>
          </a:xfrm>
          <a:prstGeom prst="rect">
            <a:avLst/>
          </a:prstGeom>
          <a:solidFill>
            <a:srgbClr val="101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82512" y="2935224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F4444"/>
                </a:solidFill>
                <a:latin typeface="Calibri"/>
              </a:rPr>
              <a:t>❌ MISSING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88352" y="2935224"/>
            <a:ext cx="3840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Google My Business integration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338560" y="2962656"/>
            <a:ext cx="530352" cy="23774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356848" y="2962656"/>
            <a:ext cx="5120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09360" y="3364992"/>
            <a:ext cx="5623560" cy="402336"/>
          </a:xfrm>
          <a:prstGeom prst="rect">
            <a:avLst/>
          </a:prstGeom>
          <a:solidFill>
            <a:srgbClr val="101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82512" y="3410712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9E0B"/>
                </a:solidFill>
                <a:latin typeface="Calibri"/>
              </a:rPr>
              <a:t>⚠️ PARTIAL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88352" y="3410712"/>
            <a:ext cx="3840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Sentinel: real-time data (GPT only now)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338560" y="3438144"/>
            <a:ext cx="530352" cy="2377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356848" y="3438144"/>
            <a:ext cx="5120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MED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09360" y="3840480"/>
            <a:ext cx="5623560" cy="402336"/>
          </a:xfrm>
          <a:prstGeom prst="rect">
            <a:avLst/>
          </a:prstGeom>
          <a:solidFill>
            <a:srgbClr val="101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82512" y="3886200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F4444"/>
                </a:solidFill>
                <a:latin typeface="Calibri"/>
              </a:rPr>
              <a:t>❌ MISSING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88352" y="3886200"/>
            <a:ext cx="3840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Production error monitoring (Sentry)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1338560" y="3913632"/>
            <a:ext cx="530352" cy="23774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1356848" y="3913632"/>
            <a:ext cx="5120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309360" y="4315968"/>
            <a:ext cx="5623560" cy="402336"/>
          </a:xfrm>
          <a:prstGeom prst="rect">
            <a:avLst/>
          </a:prstGeom>
          <a:solidFill>
            <a:srgbClr val="101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82512" y="4361688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F4444"/>
                </a:solidFill>
                <a:latin typeface="Calibri"/>
              </a:rPr>
              <a:t>❌ MISSING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88352" y="4361688"/>
            <a:ext cx="3840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Email delivery system (transactional)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1338560" y="4389120"/>
            <a:ext cx="530352" cy="23774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356848" y="4389120"/>
            <a:ext cx="5120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4791456"/>
            <a:ext cx="5623560" cy="402336"/>
          </a:xfrm>
          <a:prstGeom prst="rect">
            <a:avLst/>
          </a:prstGeom>
          <a:solidFill>
            <a:srgbClr val="101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382512" y="4837176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F4444"/>
                </a:solidFill>
                <a:latin typeface="Calibri"/>
              </a:rPr>
              <a:t>❌ MISSING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88352" y="4837176"/>
            <a:ext cx="3840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Automated test suite (E2E + unit)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1338560" y="4864608"/>
            <a:ext cx="530352" cy="23774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356848" y="4864608"/>
            <a:ext cx="5120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309360" y="5266944"/>
            <a:ext cx="5623560" cy="402336"/>
          </a:xfrm>
          <a:prstGeom prst="rect">
            <a:avLst/>
          </a:prstGeom>
          <a:solidFill>
            <a:srgbClr val="101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82512" y="5312664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F4444"/>
                </a:solidFill>
                <a:latin typeface="Calibri"/>
              </a:rPr>
              <a:t>❌ MISSING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388352" y="5312664"/>
            <a:ext cx="3840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GDPR cookie consent + privacy compliance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1338560" y="5340096"/>
            <a:ext cx="530352" cy="2377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1356848" y="5340096"/>
            <a:ext cx="5120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MED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309360" y="5742432"/>
            <a:ext cx="5623560" cy="402336"/>
          </a:xfrm>
          <a:prstGeom prst="rect">
            <a:avLst/>
          </a:prstGeom>
          <a:solidFill>
            <a:srgbClr val="101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382512" y="5788152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59E0B"/>
                </a:solidFill>
                <a:latin typeface="Calibri"/>
              </a:rPr>
              <a:t>⚠️ PARTIAL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88352" y="5788152"/>
            <a:ext cx="3840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Admin dashboard + user analytics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1338560" y="5815584"/>
            <a:ext cx="530352" cy="2377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1356848" y="5815584"/>
            <a:ext cx="5120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MED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60" y="6217920"/>
            <a:ext cx="5623560" cy="402336"/>
          </a:xfrm>
          <a:prstGeom prst="rect">
            <a:avLst/>
          </a:prstGeom>
          <a:solidFill>
            <a:srgbClr val="101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82512" y="6263640"/>
            <a:ext cx="10058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F4444"/>
                </a:solidFill>
                <a:latin typeface="Calibri"/>
              </a:rPr>
              <a:t>❌ MISSING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88352" y="6263640"/>
            <a:ext cx="3840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"/>
              </a:rPr>
              <a:t>Rate limiting + abuse prevention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1338560" y="6291072"/>
            <a:ext cx="530352" cy="23774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1356848" y="6291072"/>
            <a:ext cx="51206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Calibri"/>
              </a:rPr>
              <a:t>CRITICAL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What We Need to Launch — Priority 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8288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Pri.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Area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173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417320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Business 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41732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Effort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14173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Cost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709928"/>
            <a:ext cx="11430000" cy="27432"/>
          </a:xfrm>
          <a:prstGeom prst="rect">
            <a:avLst/>
          </a:prstGeom>
          <a:solidFill>
            <a:srgbClr val="1E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810512"/>
            <a:ext cx="11430000" cy="502920"/>
          </a:xfrm>
          <a:prstGeom prst="rect">
            <a:avLst/>
          </a:prstGeom>
          <a:solidFill>
            <a:srgbClr val="101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1810512"/>
            <a:ext cx="54864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874519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Calibri"/>
              </a:rPr>
              <a:t>P1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1874519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Error Monitoring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1874519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No Sentry or production error tracking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1874519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Cannot detect or fix production issues quickly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1874519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  <a:latin typeface="Calibri"/>
              </a:rPr>
              <a:t>1–2 days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1874519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alibri"/>
              </a:rPr>
              <a:t>$0 (Sentry free tier)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377440"/>
            <a:ext cx="11430000" cy="502920"/>
          </a:xfrm>
          <a:prstGeom prst="rect">
            <a:avLst/>
          </a:prstGeom>
          <a:solidFill>
            <a:srgbClr val="0F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2377440"/>
            <a:ext cx="54864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44144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Calibri"/>
              </a:rPr>
              <a:t>P1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244144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Automated Testing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244144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No E2E or unit test coverage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2441448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Deployments carry unknown regression risk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2441448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  <a:latin typeface="Calibri"/>
              </a:rPr>
              <a:t>2–3 weeks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244144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alibri"/>
              </a:rPr>
              <a:t>$0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944368"/>
            <a:ext cx="11430000" cy="502920"/>
          </a:xfrm>
          <a:prstGeom prst="rect">
            <a:avLst/>
          </a:prstGeom>
          <a:solidFill>
            <a:srgbClr val="101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2944368"/>
            <a:ext cx="54864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008375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Calibri"/>
              </a:rPr>
              <a:t>P1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3008375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Rate Limiting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74519" y="3008375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No API rate limiting or abuse prevention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3008375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Vulnerable to credit abuse &amp; API cost overruns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3008375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  <a:latin typeface="Calibri"/>
              </a:rPr>
              <a:t>3–5 days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9760" y="3008375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alibri"/>
              </a:rPr>
              <a:t>$0 (Upstash Redis free)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511296"/>
            <a:ext cx="11430000" cy="502920"/>
          </a:xfrm>
          <a:prstGeom prst="rect">
            <a:avLst/>
          </a:prstGeom>
          <a:solidFill>
            <a:srgbClr val="0F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" y="3511296"/>
            <a:ext cx="54864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3575303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Calibri"/>
              </a:rPr>
              <a:t>P1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3575303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Google Ads OAuth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74519" y="3575303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UI placeholder — zero backend implementation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0" y="3575303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Key platform missing for paid acquisition clients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38160" y="3575303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  <a:latin typeface="Calibri"/>
              </a:rPr>
              <a:t>1–2 weeks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9760" y="3575303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alibri"/>
              </a:rPr>
              <a:t>$0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4078224"/>
            <a:ext cx="11430000" cy="502920"/>
          </a:xfrm>
          <a:prstGeom prst="rect">
            <a:avLst/>
          </a:prstGeom>
          <a:solidFill>
            <a:srgbClr val="101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65760" y="4078224"/>
            <a:ext cx="54864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4142232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P2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414223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Google My Business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874519" y="414223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Not built at all — no UI or API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0" y="4142232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Local businesses cannot post GMB updates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38160" y="4142232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  <a:latin typeface="Calibri"/>
              </a:rPr>
              <a:t>2–3 weeks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09760" y="414223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alibri"/>
              </a:rPr>
              <a:t>$0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4645152"/>
            <a:ext cx="11430000" cy="502920"/>
          </a:xfrm>
          <a:prstGeom prst="rect">
            <a:avLst/>
          </a:prstGeom>
          <a:solidFill>
            <a:srgbClr val="0F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65760" y="4645152"/>
            <a:ext cx="54864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4709160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P2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" y="470916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Sentinel Intelligence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874519" y="470916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GPT analysis only — no live competitor data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0" y="4709160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Sentinel value proposition is limited without real data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38160" y="4709160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  <a:latin typeface="Calibri"/>
              </a:rPr>
              <a:t>1 week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09760" y="470916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alibri"/>
              </a:rPr>
              <a:t>$50–100/mo (NewsAPI + SerpAPI)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5212079"/>
            <a:ext cx="11430000" cy="502920"/>
          </a:xfrm>
          <a:prstGeom prst="rect">
            <a:avLst/>
          </a:prstGeom>
          <a:solidFill>
            <a:srgbClr val="101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65760" y="5212079"/>
            <a:ext cx="54864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" y="527608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P2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2960" y="527608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GDPR Compliance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874519" y="527608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Cookie consent banner incomplete, no data export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29200" y="5276088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Legal risk for EU users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138160" y="5276088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  <a:latin typeface="Calibri"/>
              </a:rPr>
              <a:t>3–5 days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509760" y="527608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alibri"/>
              </a:rPr>
              <a:t>$0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5760" y="5779008"/>
            <a:ext cx="11430000" cy="502920"/>
          </a:xfrm>
          <a:prstGeom prst="rect">
            <a:avLst/>
          </a:prstGeom>
          <a:solidFill>
            <a:srgbClr val="0F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65760" y="5779008"/>
            <a:ext cx="54864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7200" y="5843016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Calibri"/>
              </a:rPr>
              <a:t>P3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2960" y="5843016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Admin Analytics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874519" y="5843016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Partial admin dashboard, no cohort/churn views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29200" y="5843016"/>
            <a:ext cx="3063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Cannot make data-driven product decisions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138160" y="5843016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B6D4"/>
                </a:solidFill>
                <a:latin typeface="Calibri"/>
              </a:rPr>
              <a:t>1–2 weeks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509760" y="584301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  <a:latin typeface="Calibri"/>
              </a:rPr>
              <a:t>$0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90-Day Launch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8288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3749039" cy="5120640"/>
          </a:xfrm>
          <a:prstGeom prst="rect">
            <a:avLst/>
          </a:prstGeom>
          <a:solidFill>
            <a:srgbClr val="0F102A"/>
          </a:solidFill>
          <a:ln w="952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749039" cy="47548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447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 Black"/>
              </a:rPr>
              <a:t>PHASE 1  ·  Weeks 1–4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0992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Stabilize &amp; Secure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574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▸ Add Sentry error monitoring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60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▸ Implement Redis rate limiting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063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▸ Complete GDPR cookie consent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5661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▸ Set up transactional email (Resend)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0690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▸ Write E2E tests for critical flows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5720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▸ Fix known TypeScript + build warnings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074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▸ Harden Supabase Auth flows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" y="6126480"/>
            <a:ext cx="3520440" cy="292608"/>
          </a:xfrm>
          <a:prstGeom prst="rect">
            <a:avLst/>
          </a:prstGeom>
          <a:solidFill>
            <a:srgbClr val="1A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135624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F4444"/>
                </a:solidFill>
                <a:latin typeface="Calibri"/>
              </a:rPr>
              <a:t>🎯  Production-stable, launch-ready infrastructure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1417320"/>
            <a:ext cx="3749039" cy="5120640"/>
          </a:xfrm>
          <a:prstGeom prst="rect">
            <a:avLst/>
          </a:prstGeom>
          <a:solidFill>
            <a:srgbClr val="0F102A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80" y="1417320"/>
            <a:ext cx="3749039" cy="4754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14447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 Black"/>
              </a:rPr>
              <a:t>PHASE 2  ·  Weeks 5–8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170992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Complete Integrations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20574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▸ Build Google Ads OAuth +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2560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▸ Build Google My Business posting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3063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▸ Upgrade Sentinel with NewsAPI/SerpAPI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35661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▸ Complete admin analytics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0690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▸ Add email notification 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5720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▸ Launch referral program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5074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▸ Beta user onboarding (50 users)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07408" y="6126480"/>
            <a:ext cx="3520440" cy="292608"/>
          </a:xfrm>
          <a:prstGeom prst="rect">
            <a:avLst/>
          </a:prstGeom>
          <a:solidFill>
            <a:srgbClr val="1A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60" y="6135624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  <a:latin typeface="Calibri"/>
              </a:rPr>
              <a:t>🎯  Full platform feature parity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1417320"/>
            <a:ext cx="3749039" cy="5120640"/>
          </a:xfrm>
          <a:prstGeom prst="rect">
            <a:avLst/>
          </a:prstGeom>
          <a:solidFill>
            <a:srgbClr val="0F102A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29600" y="1417320"/>
            <a:ext cx="3749039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66760" y="14447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 Black"/>
              </a:rPr>
              <a:t>PHASE 3  ·  Weeks 9–12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170992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Launch &amp; Monetize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20574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▸ Public launch + press release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60" y="2560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▸ Agency white-label framework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3063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▸ AI video storyboard generation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35661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▸ Performance analytics dashboard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60" y="40690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▸ First 10 paying customers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457200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▸ Partnership channel activation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5074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▸ First MRR milestone: $1,000+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39327" y="6126480"/>
            <a:ext cx="3520440" cy="292608"/>
          </a:xfrm>
          <a:prstGeom prst="rect">
            <a:avLst/>
          </a:prstGeom>
          <a:solidFill>
            <a:srgbClr val="1A1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80" y="6135624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0B981"/>
                </a:solidFill>
                <a:latin typeface="Calibri"/>
              </a:rPr>
              <a:t>🎯  $1,000+ MRR &amp; 100+ active users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Calibri"/>
              </a:rPr>
              <a:t>12-MONTH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Product Evolution: Q3 2026 → Q2 2027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8288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0160" y="1408176"/>
            <a:ext cx="54864" cy="51206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53312"/>
            <a:ext cx="2743200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3716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 Black"/>
              </a:rPr>
              <a:t>Q3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4173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Calibri"/>
              </a:rPr>
              <a:t>Launch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2212848"/>
            <a:ext cx="411480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54480" y="2240280"/>
            <a:ext cx="228600" cy="228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20240" y="2057400"/>
            <a:ext cx="1417320" cy="548640"/>
          </a:xfrm>
          <a:prstGeom prst="rect">
            <a:avLst/>
          </a:prstGeom>
          <a:solidFill>
            <a:srgbClr val="13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57400" y="21031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Public launch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2962656"/>
            <a:ext cx="411480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554480" y="2990088"/>
            <a:ext cx="228600" cy="228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20240" y="2807208"/>
            <a:ext cx="1417320" cy="548640"/>
          </a:xfrm>
          <a:prstGeom prst="rect">
            <a:avLst/>
          </a:prstGeom>
          <a:solidFill>
            <a:srgbClr val="13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57400" y="285292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Google Ads + GMB integrations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3712463"/>
            <a:ext cx="411480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554480" y="3739896"/>
            <a:ext cx="228600" cy="228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920240" y="3557015"/>
            <a:ext cx="1417320" cy="548640"/>
          </a:xfrm>
          <a:prstGeom prst="rect">
            <a:avLst/>
          </a:prstGeom>
          <a:solidFill>
            <a:srgbClr val="13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57400" y="3602736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Sentry + monitoring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" y="4462272"/>
            <a:ext cx="411480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554480" y="4489704"/>
            <a:ext cx="228600" cy="228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920240" y="4306824"/>
            <a:ext cx="1417320" cy="548640"/>
          </a:xfrm>
          <a:prstGeom prst="rect">
            <a:avLst/>
          </a:prstGeom>
          <a:solidFill>
            <a:srgbClr val="13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57400" y="4352544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Rate limiting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97280" y="5212080"/>
            <a:ext cx="411480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554480" y="5239512"/>
            <a:ext cx="228600" cy="228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920240" y="5056632"/>
            <a:ext cx="1417320" cy="548640"/>
          </a:xfrm>
          <a:prstGeom prst="rect">
            <a:avLst/>
          </a:prstGeom>
          <a:solidFill>
            <a:srgbClr val="13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57400" y="510235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100 users target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97280" y="5961888"/>
            <a:ext cx="411480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554480" y="5989320"/>
            <a:ext cx="228600" cy="228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20240" y="5806440"/>
            <a:ext cx="1417320" cy="548640"/>
          </a:xfrm>
          <a:prstGeom prst="rect">
            <a:avLst/>
          </a:prstGeom>
          <a:solidFill>
            <a:srgbClr val="13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57400" y="5852159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First paying customers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06240" y="1408176"/>
            <a:ext cx="54864" cy="5120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91840" y="1353312"/>
            <a:ext cx="274320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01568" y="13716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 Black"/>
              </a:rPr>
              <a:t>Q4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92040" y="14173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Calibri"/>
              </a:rPr>
              <a:t>Scale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023360" y="2212848"/>
            <a:ext cx="41148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480560" y="2240280"/>
            <a:ext cx="228600" cy="22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846320" y="2057400"/>
            <a:ext cx="1417320" cy="548640"/>
          </a:xfrm>
          <a:prstGeom prst="rect">
            <a:avLst/>
          </a:prstGeom>
          <a:solidFill>
            <a:srgbClr val="13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83480" y="21031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Agency white-label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23360" y="2962656"/>
            <a:ext cx="41148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80560" y="2990088"/>
            <a:ext cx="228600" cy="22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846320" y="2807208"/>
            <a:ext cx="1417320" cy="548640"/>
          </a:xfrm>
          <a:prstGeom prst="rect">
            <a:avLst/>
          </a:prstGeom>
          <a:solidFill>
            <a:srgbClr val="13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83480" y="285292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Live Sentinel intelligence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023360" y="3712463"/>
            <a:ext cx="41148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80560" y="3739896"/>
            <a:ext cx="228600" cy="22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46320" y="3557015"/>
            <a:ext cx="1417320" cy="548640"/>
          </a:xfrm>
          <a:prstGeom prst="rect">
            <a:avLst/>
          </a:prstGeom>
          <a:solidFill>
            <a:srgbClr val="13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83480" y="3602736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AI video storyboard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23360" y="4462272"/>
            <a:ext cx="41148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480560" y="4489704"/>
            <a:ext cx="228600" cy="22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846320" y="4306824"/>
            <a:ext cx="1417320" cy="548640"/>
          </a:xfrm>
          <a:prstGeom prst="rect">
            <a:avLst/>
          </a:prstGeom>
          <a:solidFill>
            <a:srgbClr val="13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983480" y="4352544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Performance analytics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023360" y="5212080"/>
            <a:ext cx="41148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480560" y="5239512"/>
            <a:ext cx="228600" cy="22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846320" y="5056632"/>
            <a:ext cx="1417320" cy="548640"/>
          </a:xfrm>
          <a:prstGeom prst="rect">
            <a:avLst/>
          </a:prstGeom>
          <a:solidFill>
            <a:srgbClr val="13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983480" y="510235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Referral program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023360" y="5961888"/>
            <a:ext cx="41148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480560" y="5989320"/>
            <a:ext cx="228600" cy="22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846320" y="5806440"/>
            <a:ext cx="1417320" cy="548640"/>
          </a:xfrm>
          <a:prstGeom prst="rect">
            <a:avLst/>
          </a:prstGeom>
          <a:solidFill>
            <a:srgbClr val="13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983480" y="5852159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$5,000 MRR target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132320" y="1408176"/>
            <a:ext cx="54864" cy="51206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217920" y="1353312"/>
            <a:ext cx="2743200" cy="502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27648" y="13716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 Black"/>
              </a:rPr>
              <a:t>Q1 2027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818120" y="14173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Calibri"/>
              </a:rPr>
              <a:t>Expand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949440" y="2212848"/>
            <a:ext cx="411480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406640" y="2240280"/>
            <a:ext cx="228600" cy="228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772400" y="2057400"/>
            <a:ext cx="1417320" cy="548640"/>
          </a:xfrm>
          <a:prstGeom prst="rect">
            <a:avLst/>
          </a:prstGeom>
          <a:solidFill>
            <a:srgbClr val="13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909560" y="21031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Snapchat + Twitter/X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949440" y="2962656"/>
            <a:ext cx="411480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406640" y="2990088"/>
            <a:ext cx="228600" cy="228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772400" y="2807208"/>
            <a:ext cx="1417320" cy="548640"/>
          </a:xfrm>
          <a:prstGeom prst="rect">
            <a:avLst/>
          </a:prstGeom>
          <a:solidFill>
            <a:srgbClr val="13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909560" y="285292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AI video generation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949440" y="3712463"/>
            <a:ext cx="411480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406640" y="3739896"/>
            <a:ext cx="228600" cy="228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772400" y="3557015"/>
            <a:ext cx="1417320" cy="548640"/>
          </a:xfrm>
          <a:prstGeom prst="rect">
            <a:avLst/>
          </a:prstGeom>
          <a:solidFill>
            <a:srgbClr val="13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909560" y="3602736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Predictive analytics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949440" y="4462272"/>
            <a:ext cx="411480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406640" y="4489704"/>
            <a:ext cx="228600" cy="228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772400" y="4306824"/>
            <a:ext cx="1417320" cy="548640"/>
          </a:xfrm>
          <a:prstGeom prst="rect">
            <a:avLst/>
          </a:prstGeom>
          <a:solidFill>
            <a:srgbClr val="13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909560" y="4352544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Team collaboration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949440" y="5212080"/>
            <a:ext cx="411480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06640" y="5239512"/>
            <a:ext cx="228600" cy="228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72400" y="5056632"/>
            <a:ext cx="1417320" cy="548640"/>
          </a:xfrm>
          <a:prstGeom prst="rect">
            <a:avLst/>
          </a:prstGeom>
          <a:solidFill>
            <a:srgbClr val="13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909560" y="510235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API access (Growth+)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949440" y="5961888"/>
            <a:ext cx="411480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406640" y="5989320"/>
            <a:ext cx="228600" cy="228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72400" y="5806440"/>
            <a:ext cx="1417320" cy="548640"/>
          </a:xfrm>
          <a:prstGeom prst="rect">
            <a:avLst/>
          </a:prstGeom>
          <a:solidFill>
            <a:srgbClr val="13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909560" y="5852159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$15,000 MRR target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058400" y="1408176"/>
            <a:ext cx="54864" cy="51206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144000" y="1353312"/>
            <a:ext cx="274320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253728" y="13716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rial Black"/>
              </a:rPr>
              <a:t>Q2 2027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744200" y="14173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Calibri"/>
              </a:rPr>
              <a:t>Dominate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875520" y="2212848"/>
            <a:ext cx="41148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0332720" y="2240280"/>
            <a:ext cx="228600" cy="228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0698480" y="2057400"/>
            <a:ext cx="1417320" cy="548640"/>
          </a:xfrm>
          <a:prstGeom prst="rect">
            <a:avLst/>
          </a:prstGeom>
          <a:solidFill>
            <a:srgbClr val="13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835640" y="21031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Enterprise SSO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875520" y="2962656"/>
            <a:ext cx="41148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0332720" y="2990088"/>
            <a:ext cx="228600" cy="228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698480" y="2807208"/>
            <a:ext cx="1417320" cy="548640"/>
          </a:xfrm>
          <a:prstGeom prst="rect">
            <a:avLst/>
          </a:prstGeom>
          <a:solidFill>
            <a:srgbClr val="13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835640" y="285292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Custom AI model fine-tuning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875520" y="3712463"/>
            <a:ext cx="41148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0332720" y="3739896"/>
            <a:ext cx="228600" cy="228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698480" y="3557015"/>
            <a:ext cx="1417320" cy="548640"/>
          </a:xfrm>
          <a:prstGeom prst="rect">
            <a:avLst/>
          </a:prstGeom>
          <a:solidFill>
            <a:srgbClr val="13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835640" y="3602736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Marketplace for templates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875520" y="4462272"/>
            <a:ext cx="41148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0332720" y="4489704"/>
            <a:ext cx="228600" cy="228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0698480" y="4306824"/>
            <a:ext cx="1417320" cy="548640"/>
          </a:xfrm>
          <a:prstGeom prst="rect">
            <a:avLst/>
          </a:prstGeom>
          <a:solidFill>
            <a:srgbClr val="13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0835640" y="4352544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Affiliate network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9875520" y="5212080"/>
            <a:ext cx="41148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0332720" y="5239512"/>
            <a:ext cx="228600" cy="228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0698480" y="5056632"/>
            <a:ext cx="1417320" cy="548640"/>
          </a:xfrm>
          <a:prstGeom prst="rect">
            <a:avLst/>
          </a:prstGeom>
          <a:solidFill>
            <a:srgbClr val="13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0835640" y="510235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500+ clients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9875520" y="5961888"/>
            <a:ext cx="41148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0332720" y="5989320"/>
            <a:ext cx="228600" cy="228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0698480" y="5806440"/>
            <a:ext cx="1417320" cy="548640"/>
          </a:xfrm>
          <a:prstGeom prst="rect">
            <a:avLst/>
          </a:prstGeom>
          <a:solidFill>
            <a:srgbClr val="13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0835640" y="5852159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$40,000 MRR target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6400800"/>
            <a:ext cx="11457432" cy="347472"/>
          </a:xfrm>
          <a:prstGeom prst="rect">
            <a:avLst/>
          </a:prstGeom>
          <a:solidFill>
            <a:srgbClr val="13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731520" y="64465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Q3: First Revenue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0" y="64465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Q4: $5K MRR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583680" y="64465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Calibri"/>
              </a:rPr>
              <a:t>Q1 '27: $15K MRR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509760" y="64465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Q2 '27: $40K MRR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Where NEXUS Wins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8288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4173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Price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4173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Strength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14173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Weakness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19072"/>
            <a:ext cx="11430000" cy="27432"/>
          </a:xfrm>
          <a:prstGeom prst="rect">
            <a:avLst/>
          </a:prstGeom>
          <a:solidFill>
            <a:srgbClr val="1E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828800"/>
            <a:ext cx="11430000" cy="594360"/>
          </a:xfrm>
          <a:prstGeom prst="rect">
            <a:avLst/>
          </a:prstGeom>
          <a:solidFill>
            <a:srgbClr val="101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2024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Hootsuite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9202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$99+/mo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920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Scheduling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192024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444"/>
                </a:solidFill>
                <a:latin typeface="Calibri"/>
              </a:rPr>
              <a:t>No AI strategy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514600"/>
            <a:ext cx="11430000" cy="594360"/>
          </a:xfrm>
          <a:prstGeom prst="rect">
            <a:avLst/>
          </a:prstGeom>
          <a:solidFill>
            <a:srgbClr val="0F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60604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Buffer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6060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$18+/mo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6060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Scheduling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60604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444"/>
                </a:solidFill>
                <a:latin typeface="Calibri"/>
              </a:rPr>
              <a:t>No AI at all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200400"/>
            <a:ext cx="11430000" cy="594360"/>
          </a:xfrm>
          <a:prstGeom prst="rect">
            <a:avLst/>
          </a:prstGeom>
          <a:solidFill>
            <a:srgbClr val="101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29184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Jasper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2918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$49+/mo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32918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Copywriting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29184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444"/>
                </a:solidFill>
                <a:latin typeface="Calibri"/>
              </a:rPr>
              <a:t>No campaign flow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886200"/>
            <a:ext cx="11430000" cy="594360"/>
          </a:xfrm>
          <a:prstGeom prst="rect">
            <a:avLst/>
          </a:prstGeom>
          <a:solidFill>
            <a:srgbClr val="0F10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977639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Copy.ai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3977639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$49+/mo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3977639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Copy only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3977639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444"/>
                </a:solidFill>
                <a:latin typeface="Calibri"/>
              </a:rPr>
              <a:t>No publishing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572000"/>
            <a:ext cx="11430000" cy="594360"/>
          </a:xfrm>
          <a:prstGeom prst="rect">
            <a:avLst/>
          </a:prstGeom>
          <a:solidFill>
            <a:srgbClr val="101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66344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Sprinklr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46634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$299+/mo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46634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  <a:latin typeface="Calibri"/>
              </a:rPr>
              <a:t>Enterprise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466344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F4444"/>
                </a:solidFill>
                <a:latin typeface="Calibri"/>
              </a:rPr>
              <a:t>Too expensive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257800"/>
            <a:ext cx="11430000" cy="594360"/>
          </a:xfrm>
          <a:prstGeom prst="rect">
            <a:avLst/>
          </a:prstGeom>
          <a:solidFill>
            <a:srgbClr val="1A0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5257800"/>
            <a:ext cx="73152" cy="5943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5349240"/>
            <a:ext cx="2606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  <a:latin typeface="Calibri"/>
              </a:rPr>
              <a:t>NEXUS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53492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B6D4"/>
                </a:solidFill>
                <a:latin typeface="Calibri"/>
              </a:rPr>
              <a:t>$19+/mo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5349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0B981"/>
                </a:solidFill>
                <a:latin typeface="Calibri"/>
              </a:rPr>
              <a:t>Full 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0" y="534924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✅ Full AI Marketing OS — Strategy + Content + Publishing + Intelligence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6080760"/>
            <a:ext cx="11430000" cy="685800"/>
          </a:xfrm>
          <a:prstGeom prst="rect">
            <a:avLst/>
          </a:prstGeom>
          <a:solidFill>
            <a:srgbClr val="160930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6126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  <a:latin typeface="Calibri"/>
              </a:rPr>
              <a:t>🏆  NEXUS Unfair Advantage: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49039" y="6126480"/>
            <a:ext cx="7955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The only platform that combines AI strategy generation + brand memory + multi-platform publishing + competitor intelligence in one workflow — at SMB pricing.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Calibri"/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A $37B Market Growing at 14% CAGR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8288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-274320" y="1525219"/>
            <a:ext cx="2377440" cy="3043123"/>
          </a:xfrm>
          <a:prstGeom prst="rect">
            <a:avLst/>
          </a:prstGeom>
          <a:solidFill>
            <a:srgbClr val="1A1B35"/>
          </a:solidFill>
          <a:ln w="952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34540" y="1773936"/>
            <a:ext cx="1600200" cy="2048256"/>
          </a:xfrm>
          <a:prstGeom prst="rect">
            <a:avLst/>
          </a:prstGeom>
          <a:solidFill>
            <a:srgbClr val="1A1B35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97680" y="1993392"/>
            <a:ext cx="914400" cy="1170432"/>
          </a:xfrm>
          <a:prstGeom prst="rect">
            <a:avLst/>
          </a:prstGeom>
          <a:solidFill>
            <a:srgbClr val="8B5CF6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3566160" cy="2926080"/>
          </a:xfrm>
          <a:prstGeom prst="rect">
            <a:avLst/>
          </a:prstGeom>
          <a:solidFill>
            <a:srgbClr val="0F102A"/>
          </a:solidFill>
          <a:ln w="9525"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0876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9CA3AF"/>
                </a:solidFill>
                <a:latin typeface="Arial Black"/>
              </a:rPr>
              <a:t>TAM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031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 Black"/>
              </a:rPr>
              <a:t>$37B+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67004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CA3AF"/>
                </a:solidFill>
                <a:latin typeface="Calibri"/>
              </a:rPr>
              <a:t>Total Addressable Market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175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CA3AF"/>
                </a:solidFill>
                <a:latin typeface="Calibri"/>
              </a:rPr>
              <a:t>Global marketing software spend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79" y="1417320"/>
            <a:ext cx="3566160" cy="2926080"/>
          </a:xfrm>
          <a:prstGeom prst="rect">
            <a:avLst/>
          </a:prstGeom>
          <a:solidFill>
            <a:srgbClr val="0F102A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50876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06B6D4"/>
                </a:solidFill>
                <a:latin typeface="Arial Black"/>
              </a:rPr>
              <a:t>SAM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1031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 Black"/>
              </a:rPr>
              <a:t>$6.2B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67004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B6D4"/>
                </a:solidFill>
                <a:latin typeface="Calibri"/>
              </a:rPr>
              <a:t>Serviceable Addressable Market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0175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CA3AF"/>
                </a:solidFill>
                <a:latin typeface="Calibri"/>
              </a:rPr>
              <a:t>AI-powered SMB marketing tools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19" y="1417320"/>
            <a:ext cx="3566160" cy="2926080"/>
          </a:xfrm>
          <a:prstGeom prst="rect">
            <a:avLst/>
          </a:prstGeom>
          <a:solidFill>
            <a:srgbClr val="0F102A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79" y="150876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8B5CF6"/>
                </a:solidFill>
                <a:latin typeface="Arial Black"/>
              </a:rPr>
              <a:t>SOM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21031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 Black"/>
              </a:rPr>
              <a:t>$280M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267004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B5CF6"/>
                </a:solidFill>
                <a:latin typeface="Calibri"/>
              </a:rPr>
              <a:t>Serviceable Obtainable Market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30175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CA3AF"/>
                </a:solidFill>
                <a:latin typeface="Calibri"/>
              </a:rPr>
              <a:t>MENA + English SMBs (Year 1–3)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617720"/>
            <a:ext cx="11457432" cy="2103120"/>
          </a:xfrm>
          <a:prstGeom prst="rect">
            <a:avLst/>
          </a:prstGeom>
          <a:solidFill>
            <a:srgbClr val="0F102A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68172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5CF6"/>
                </a:solidFill>
                <a:latin typeface="Calibri"/>
              </a:rPr>
              <a:t>⚡  Why the Window is NOW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5120640"/>
            <a:ext cx="91440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12064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AI Cost Collapse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394959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GPT-4o-mini is 100x cheaper than GPT-4 was in 2022 — margins that were impossible are now achievable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5120640"/>
            <a:ext cx="91440" cy="4572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5120640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SMB Adoption Peak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394959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73% of SMBs plan to increase AI marketing spend in 2025–2026 (Salesforce State of Marketing)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5870448"/>
            <a:ext cx="9144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587044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MENA Opportunity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61447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Arabic-first AI marketing tools are virtually non-existent — first-mover advantage is available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5870448"/>
            <a:ext cx="9144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587044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Platform Consolidation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614476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Marketers are tired of 5+ disconnected tools — bundled workflow products are winning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PARTNERSHIP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The Partnership Opportunity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8288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303520" cy="5166360"/>
          </a:xfrm>
          <a:prstGeom prst="rect">
            <a:avLst/>
          </a:prstGeom>
          <a:solidFill>
            <a:srgbClr val="0F102A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303520" cy="43891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🚀  What NEXUS Brings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57400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  <a:latin typeface="Calibri"/>
              </a:rPr>
              <a:t>Built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50008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Fully functional AI marketing OS — not an idea, not a wireframe. Working product with 20+ modules.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935224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93522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  <a:latin typeface="Calibri"/>
              </a:rPr>
              <a:t>Bilingual 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22783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Full Arabic + English interface — first-mover in MENA AI marketing space.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813048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81304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  <a:latin typeface="Calibri"/>
              </a:rPr>
              <a:t>AI-Native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105656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Built AI-first from day 1. Not bolted on. Every workflow is AI-augmented.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690872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69087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  <a:latin typeface="Calibri"/>
              </a:rPr>
              <a:t>Revenue-Ready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98348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Stripe billing, 4 plans, credit system — ready to take first payment today.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568696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56869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  <a:latin typeface="Calibri"/>
              </a:rPr>
              <a:t>Low Burn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861304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~$200/mo infra cost. 94% average gross margin on AI actions. Capital-efficient.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1417320"/>
            <a:ext cx="5577840" cy="5166360"/>
          </a:xfrm>
          <a:prstGeom prst="rect">
            <a:avLst/>
          </a:prstGeom>
          <a:solidFill>
            <a:srgbClr val="0F102A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1417320"/>
            <a:ext cx="5577840" cy="43891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146304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🤝  What We're Looking For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057400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205740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Go-To-Market Partner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235000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Distribution network, agency relationships, or sales channel to accelerate user acquisition.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2935224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293522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Agency Reseller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322783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White-label NEXUS to your clients. Custom branding, revenue share model available.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3813048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381304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Regional Expansion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4105656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MENA, Gulf, or LatAm market partners with local relationships and domain expertise.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4690872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469087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Technical Integration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12280" y="4983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CRM, analytics, or data platform integrations to extend the NEXUS ecosystem.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5568696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80" y="556869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Strategic Investment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12280" y="5861304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Seed capital to accelerate Google Ads/GMB integrations and growth marketing.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"/>
              </a:rPr>
              <a:t>Seed Investment Plan — $150,000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8288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760720" cy="5166360"/>
          </a:xfrm>
          <a:prstGeom prst="rect">
            <a:avLst/>
          </a:prstGeom>
          <a:solidFill>
            <a:srgbClr val="0F102A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8132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  <a:latin typeface="Calibri"/>
              </a:rPr>
              <a:t>💵  Capital Allocation ($150K)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011680"/>
            <a:ext cx="5394960" cy="749808"/>
          </a:xfrm>
          <a:prstGeom prst="rect">
            <a:avLst/>
          </a:prstGeom>
          <a:solidFill>
            <a:srgbClr val="13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011680"/>
            <a:ext cx="54864" cy="7498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6654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2066544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$60,000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066544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Calibri"/>
              </a:rPr>
              <a:t>40%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41401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Google Ads, GMB, testing, monitoring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724912"/>
            <a:ext cx="5394960" cy="36576"/>
          </a:xfrm>
          <a:prstGeom prst="rect">
            <a:avLst/>
          </a:prstGeom>
          <a:solidFill>
            <a:srgbClr val="1E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724912"/>
            <a:ext cx="2157984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880360"/>
            <a:ext cx="5394960" cy="749808"/>
          </a:xfrm>
          <a:prstGeom prst="rect">
            <a:avLst/>
          </a:prstGeom>
          <a:solidFill>
            <a:srgbClr val="13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2880360"/>
            <a:ext cx="54864" cy="7498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93522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Growth &amp; Marketing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2935224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Calibri"/>
              </a:rPr>
              <a:t>$35,000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2935224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Calibri"/>
              </a:rPr>
              <a:t>23%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28269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Content, SEO, agency partnerships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593592"/>
            <a:ext cx="5394960" cy="36576"/>
          </a:xfrm>
          <a:prstGeom prst="rect">
            <a:avLst/>
          </a:prstGeom>
          <a:solidFill>
            <a:srgbClr val="1E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593592"/>
            <a:ext cx="124084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3749039"/>
            <a:ext cx="5394960" cy="749808"/>
          </a:xfrm>
          <a:prstGeom prst="rect">
            <a:avLst/>
          </a:prstGeom>
          <a:solidFill>
            <a:srgbClr val="13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3749039"/>
            <a:ext cx="54864" cy="7498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803903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AI &amp; Infrastructure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3803903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  <a:latin typeface="Calibri"/>
              </a:rPr>
              <a:t>$25,000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86200" y="3803903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Calibri"/>
              </a:rPr>
              <a:t>17%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15137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API costs, Sentinel live data, scaling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462272"/>
            <a:ext cx="5394960" cy="36576"/>
          </a:xfrm>
          <a:prstGeom prst="rect">
            <a:avLst/>
          </a:prstGeom>
          <a:solidFill>
            <a:srgbClr val="1E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4462272"/>
            <a:ext cx="917143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4617720"/>
            <a:ext cx="5394960" cy="749808"/>
          </a:xfrm>
          <a:prstGeom prst="rect">
            <a:avLst/>
          </a:prstGeom>
          <a:solidFill>
            <a:srgbClr val="13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4617720"/>
            <a:ext cx="54864" cy="7498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672583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Product &amp; Design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672583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$20,000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86200" y="4672583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Calibri"/>
              </a:rPr>
              <a:t>13%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502005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UI/UX, templates, video storyboard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5330952"/>
            <a:ext cx="5394960" cy="36576"/>
          </a:xfrm>
          <a:prstGeom prst="rect">
            <a:avLst/>
          </a:prstGeom>
          <a:solidFill>
            <a:srgbClr val="1E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" y="5330952"/>
            <a:ext cx="701344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2920" y="5486400"/>
            <a:ext cx="5394960" cy="749808"/>
          </a:xfrm>
          <a:prstGeom prst="rect">
            <a:avLst/>
          </a:prstGeom>
          <a:solidFill>
            <a:srgbClr val="13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2920" y="5486400"/>
            <a:ext cx="54864" cy="749808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554126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Legal &amp; Compliance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97480" y="5541264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CA3AF"/>
                </a:solidFill>
                <a:latin typeface="Calibri"/>
              </a:rPr>
              <a:t>$10,000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86200" y="5541264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Calibri"/>
              </a:rPr>
              <a:t>7%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588873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CA3AF"/>
                </a:solidFill>
                <a:latin typeface="Calibri"/>
              </a:rPr>
              <a:t>GDPR, terms, privacy, incorporation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6199632"/>
            <a:ext cx="5394960" cy="36576"/>
          </a:xfrm>
          <a:prstGeom prst="rect">
            <a:avLst/>
          </a:prstGeom>
          <a:solidFill>
            <a:srgbClr val="1E1F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02920" y="6199632"/>
            <a:ext cx="377647" cy="36576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83680" y="1417320"/>
            <a:ext cx="5212080" cy="5166360"/>
          </a:xfrm>
          <a:prstGeom prst="rect">
            <a:avLst/>
          </a:prstGeom>
          <a:solidFill>
            <a:srgbClr val="0F102A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66560" y="148132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  <a:latin typeface="Calibri"/>
              </a:rPr>
              <a:t>🎯  What $150K Achieves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720840" y="2029968"/>
            <a:ext cx="4937760" cy="749808"/>
          </a:xfrm>
          <a:prstGeom prst="rect">
            <a:avLst/>
          </a:prstGeom>
          <a:solidFill>
            <a:srgbClr val="13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720840" y="2157984"/>
            <a:ext cx="73152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48272" y="2231136"/>
            <a:ext cx="685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Month 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43800" y="2212848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Production launch — full feature set live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720840" y="2898648"/>
            <a:ext cx="4937760" cy="749808"/>
          </a:xfrm>
          <a:prstGeom prst="rect">
            <a:avLst/>
          </a:prstGeom>
          <a:solidFill>
            <a:srgbClr val="13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720840" y="3026664"/>
            <a:ext cx="731520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48272" y="3099816"/>
            <a:ext cx="685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Month 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43800" y="3081528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100+ paying users / $1,900 MRR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720840" y="3767328"/>
            <a:ext cx="4937760" cy="749808"/>
          </a:xfrm>
          <a:prstGeom prst="rect">
            <a:avLst/>
          </a:prstGeom>
          <a:solidFill>
            <a:srgbClr val="13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720840" y="3895344"/>
            <a:ext cx="73152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748272" y="3968496"/>
            <a:ext cx="685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Month 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43800" y="3950208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500+ users / $8,500 MRR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720840" y="4636008"/>
            <a:ext cx="4937760" cy="749808"/>
          </a:xfrm>
          <a:prstGeom prst="rect">
            <a:avLst/>
          </a:prstGeom>
          <a:solidFill>
            <a:srgbClr val="13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720840" y="4764024"/>
            <a:ext cx="731520" cy="502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748272" y="4837176"/>
            <a:ext cx="685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Month 12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543800" y="4818888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1,500+ users / $28,000 MRR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720840" y="5504688"/>
            <a:ext cx="4937760" cy="749808"/>
          </a:xfrm>
          <a:prstGeom prst="rect">
            <a:avLst/>
          </a:prstGeom>
          <a:solidFill>
            <a:srgbClr val="13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720840" y="5632703"/>
            <a:ext cx="731520" cy="502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748272" y="5705855"/>
            <a:ext cx="685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Month 18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543800" y="5687568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Break-even / $60K+ MRR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Calibri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77724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Arial Black"/>
              </a:rPr>
              <a:t>Let's Build This Together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27632"/>
            <a:ext cx="4873752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011680"/>
            <a:ext cx="4846320" cy="1920240"/>
          </a:xfrm>
          <a:prstGeom prst="rect">
            <a:avLst/>
          </a:prstGeom>
          <a:solidFill>
            <a:srgbClr val="0F102A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011680"/>
            <a:ext cx="685800" cy="19202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651760"/>
            <a:ext cx="5669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 Black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1945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5CF6"/>
                </a:solidFill>
                <a:latin typeface="Arial"/>
              </a:rPr>
              <a:t>Platform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697480"/>
            <a:ext cx="3840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30-min live walkthrough of the full NEXUS platform — campaign creation to publishing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2011680"/>
            <a:ext cx="4846320" cy="1920240"/>
          </a:xfrm>
          <a:prstGeom prst="rect">
            <a:avLst/>
          </a:prstGeom>
          <a:solidFill>
            <a:srgbClr val="0F102A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2011680"/>
            <a:ext cx="685800" cy="1920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9632" y="2651760"/>
            <a:ext cx="5669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 Black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1945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B6D4"/>
                </a:solidFill>
                <a:latin typeface="Arial"/>
              </a:rPr>
              <a:t>Due Diligence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697480"/>
            <a:ext cx="3840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Access to codebase, architecture docs, and financial models for partner review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206240"/>
            <a:ext cx="4846320" cy="1920240"/>
          </a:xfrm>
          <a:prstGeom prst="rect">
            <a:avLst/>
          </a:prstGeom>
          <a:solidFill>
            <a:srgbClr val="0F102A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4206240"/>
            <a:ext cx="685800" cy="1920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4846320"/>
            <a:ext cx="5669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 Black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38912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Arial"/>
              </a:rPr>
              <a:t>Pilot Program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892040"/>
            <a:ext cx="3840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3-month pilot with 10 selected beta users from partner's network — tracked KPIs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4206240"/>
            <a:ext cx="4846320" cy="1920240"/>
          </a:xfrm>
          <a:prstGeom prst="rect">
            <a:avLst/>
          </a:prstGeom>
          <a:solidFill>
            <a:srgbClr val="0F102A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4206240"/>
            <a:ext cx="685800" cy="1920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9632" y="4846320"/>
            <a:ext cx="5669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Arial Black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438912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  <a:latin typeface="Arial"/>
              </a:rPr>
              <a:t>Term Sheet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4892040"/>
            <a:ext cx="3840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5E7EB"/>
                </a:solidFill>
                <a:latin typeface="Calibri"/>
              </a:rPr>
              <a:t>Define partnership model: reseller, investment, co-marketing, or integration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0" y="6446520"/>
            <a:ext cx="8531352" cy="292608"/>
          </a:xfrm>
          <a:prstGeom prst="rect">
            <a:avLst/>
          </a:prstGeom>
          <a:solidFill>
            <a:srgbClr val="13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28800" y="6464808"/>
            <a:ext cx="8531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  <a:latin typeface="Calibri"/>
              </a:rPr>
              <a:t>📧  Contact:  nexus-ai.io   |   Deck version: June 2026   |   All figures are estimates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