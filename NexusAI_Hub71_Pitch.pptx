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83380" y="274320"/>
            <a:ext cx="777240" cy="777240"/>
          </a:xfrm>
          <a:prstGeom prst="ellipse">
            <a:avLst/>
          </a:prstGeom>
          <a:solidFill>
            <a:srgbClr val="6366F1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83380" y="27432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234440"/>
            <a:ext cx="2743200" cy="274320"/>
          </a:xfrm>
          <a:prstGeom prst="rect">
            <a:avLst/>
          </a:prstGeom>
          <a:solidFill>
            <a:srgbClr val="25286E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123444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6366F1"/>
                </a:solidFill>
                <a:latin typeface="Calibri"/>
              </a:rPr>
              <a:t>HUB71+ AI  ·  COHORT 20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9344"/>
            <a:ext cx="8229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Arial Black"/>
              </a:rPr>
              <a:t>NEXUS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80944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1">
                <a:solidFill>
                  <a:srgbClr val="06B6D4"/>
                </a:solidFill>
                <a:latin typeface="Calibri"/>
              </a:rPr>
              <a:t>The AI Marketing Operating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DB5"/>
                </a:solidFill>
                <a:latin typeface="Calibri"/>
              </a:rPr>
              <a:t>Campaign Strategy  ·  AI Content &amp; Video  ·  Brand Memory  ·  Multi-Platform Publishing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2686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D4E6A"/>
                </a:solidFill>
                <a:latin typeface="Calibri"/>
              </a:rPr>
              <a:t>Raouf Naguib  |  Founder &amp; CEO  |  nexus-grow.com  |  raoufnaguib44@gmail.com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43F5E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SMEs Can't Scale Marketing. AI Tools Aren't Helping.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2651760" cy="2834640"/>
          </a:xfrm>
          <a:prstGeom prst="rect">
            <a:avLst/>
          </a:prstGeom>
          <a:solidFill>
            <a:srgbClr val="14143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89888"/>
            <a:ext cx="2651760" cy="411480"/>
          </a:xfrm>
          <a:prstGeom prst="rect">
            <a:avLst/>
          </a:prstGeom>
          <a:solidFill>
            <a:srgbClr val="55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43F5E"/>
                </a:solidFill>
                <a:latin typeface="Arial Black"/>
              </a:rPr>
              <a:t>73%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23774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B9DB5"/>
                </a:solidFill>
                <a:latin typeface="Calibri"/>
              </a:rPr>
              <a:t>of SME marketing time</a:t>
            </a:r>
          </a:p>
          <a:p>
            <a:pPr algn="ctr"/>
            <a:r>
              <a:rPr sz="1150" b="0" i="0">
                <a:solidFill>
                  <a:srgbClr val="8B9DB5"/>
                </a:solidFill>
                <a:latin typeface="Calibri"/>
              </a:rPr>
              <a:t>wasted on manual</a:t>
            </a:r>
          </a:p>
          <a:p>
            <a:pPr algn="ctr"/>
            <a:r>
              <a:rPr sz="1150" b="0" i="0">
                <a:solidFill>
                  <a:srgbClr val="8B9DB5"/>
                </a:solidFill>
                <a:latin typeface="Calibri"/>
              </a:rPr>
              <a:t>and repetitive tasks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389888"/>
            <a:ext cx="2651760" cy="2834640"/>
          </a:xfrm>
          <a:prstGeom prst="rect">
            <a:avLst/>
          </a:prstGeom>
          <a:solidFill>
            <a:srgbClr val="14143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389888"/>
            <a:ext cx="2651760" cy="411480"/>
          </a:xfrm>
          <a:prstGeom prst="rect">
            <a:avLst/>
          </a:prstGeom>
          <a:solidFill>
            <a:srgbClr val="553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901952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59E0B"/>
                </a:solidFill>
                <a:latin typeface="Arial Black"/>
              </a:rPr>
              <a:t>6+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834640"/>
            <a:ext cx="23774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B9DB5"/>
                </a:solidFill>
                <a:latin typeface="Calibri"/>
              </a:rPr>
              <a:t>disconnected tools needed</a:t>
            </a:r>
          </a:p>
          <a:p>
            <a:pPr algn="ctr"/>
            <a:r>
              <a:rPr sz="1150" b="0" i="0">
                <a:solidFill>
                  <a:srgbClr val="8B9DB5"/>
                </a:solidFill>
                <a:latin typeface="Calibri"/>
              </a:rPr>
              <a:t>to run a single</a:t>
            </a:r>
          </a:p>
          <a:p>
            <a:pPr algn="ctr"/>
            <a:r>
              <a:rPr sz="1150" b="0" i="0">
                <a:solidFill>
                  <a:srgbClr val="8B9DB5"/>
                </a:solidFill>
                <a:latin typeface="Calibri"/>
              </a:rPr>
              <a:t>cross-platform campaign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389888"/>
            <a:ext cx="2651760" cy="2834640"/>
          </a:xfrm>
          <a:prstGeom prst="rect">
            <a:avLst/>
          </a:prstGeom>
          <a:solidFill>
            <a:srgbClr val="141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389888"/>
            <a:ext cx="2651760" cy="411480"/>
          </a:xfrm>
          <a:prstGeom prst="rect">
            <a:avLst/>
          </a:prstGeom>
          <a:solidFill>
            <a:srgbClr val="023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901952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6B6D4"/>
                </a:solidFill>
                <a:latin typeface="Arial Black"/>
              </a:rPr>
              <a:t>Zero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834640"/>
            <a:ext cx="23774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B9DB5"/>
                </a:solidFill>
                <a:latin typeface="Calibri"/>
              </a:rPr>
              <a:t>tools that truly know</a:t>
            </a:r>
          </a:p>
          <a:p>
            <a:pPr algn="ctr"/>
            <a:r>
              <a:rPr sz="1150" b="0" i="0">
                <a:solidFill>
                  <a:srgbClr val="8B9DB5"/>
                </a:solidFill>
                <a:latin typeface="Calibri"/>
              </a:rPr>
              <a:t>your brand across</a:t>
            </a:r>
          </a:p>
          <a:p>
            <a:pPr algn="ctr"/>
            <a:r>
              <a:rPr sz="1150" b="0" i="0">
                <a:solidFill>
                  <a:srgbClr val="8B9DB5"/>
                </a:solidFill>
                <a:latin typeface="Calibri"/>
              </a:rPr>
              <a:t>every campaign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0740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3D4E6A"/>
                </a:solidFill>
                <a:latin typeface="Calibri"/>
              </a:rPr>
              <a:t>ChatGPT writes text. Buffer schedules posts. Jasper writes copy. None know your brand or work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0B981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One AI Operating System for Your Entire Marketing Function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481328"/>
            <a:ext cx="402336" cy="402336"/>
          </a:xfrm>
          <a:prstGeom prst="ellipse">
            <a:avLst/>
          </a:prstGeom>
          <a:solidFill>
            <a:srgbClr val="252880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Calibri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389888"/>
            <a:ext cx="2011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Brand Brain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7248" y="1389888"/>
            <a:ext cx="5577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8B9DB5"/>
                </a:solidFill>
                <a:latin typeface="Calibri"/>
              </a:rPr>
              <a:t>Learns your brand DNA — voice, audience, competitors, positioning — powers every AI output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02536"/>
            <a:ext cx="8229600" cy="4572"/>
          </a:xfrm>
          <a:prstGeom prst="rect">
            <a:avLst/>
          </a:prstGeom>
          <a:solidFill>
            <a:srgbClr val="3D4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2176272"/>
            <a:ext cx="402336" cy="402336"/>
          </a:xfrm>
          <a:prstGeom prst="ellipse">
            <a:avLst/>
          </a:prstGeom>
          <a:solidFill>
            <a:srgbClr val="252880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76272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Calibri"/>
              </a:rP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084832"/>
            <a:ext cx="2011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Campaign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2084832"/>
            <a:ext cx="5577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8B9DB5"/>
                </a:solidFill>
                <a:latin typeface="Calibri"/>
              </a:rPr>
              <a:t>Generates full marketing strategies: hooks, angles, content calendar, targeting, budget allocation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8229600" cy="4572"/>
          </a:xfrm>
          <a:prstGeom prst="rect">
            <a:avLst/>
          </a:prstGeom>
          <a:solidFill>
            <a:srgbClr val="3D4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" y="2871216"/>
            <a:ext cx="402336" cy="402336"/>
          </a:xfrm>
          <a:prstGeom prst="ellipse">
            <a:avLst/>
          </a:prstGeom>
          <a:solidFill>
            <a:srgbClr val="252880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71216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2779776"/>
            <a:ext cx="2011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Content &amp; Media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2779776"/>
            <a:ext cx="5577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8B9DB5"/>
                </a:solidFill>
                <a:latin typeface="Calibri"/>
              </a:rPr>
              <a:t>Scripts, captions, ad copy, images, videos, voiceovers — brand-aware and campaign-aligned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92424"/>
            <a:ext cx="8229600" cy="4572"/>
          </a:xfrm>
          <a:prstGeom prst="rect">
            <a:avLst/>
          </a:prstGeom>
          <a:solidFill>
            <a:srgbClr val="3D4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7200" y="3566160"/>
            <a:ext cx="402336" cy="402336"/>
          </a:xfrm>
          <a:prstGeom prst="ellipse">
            <a:avLst/>
          </a:prstGeom>
          <a:solidFill>
            <a:srgbClr val="252880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566160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Calibri"/>
              </a:rPr>
              <a:t>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474720"/>
            <a:ext cx="2011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Auto-Publish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27248" y="3474720"/>
            <a:ext cx="5577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8B9DB5"/>
                </a:solidFill>
                <a:latin typeface="Calibri"/>
              </a:rPr>
              <a:t>Schedules and publishes across TikTok, Instagram, LinkedIn, Facebook — fully automated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87368"/>
            <a:ext cx="8229600" cy="4572"/>
          </a:xfrm>
          <a:prstGeom prst="rect">
            <a:avLst/>
          </a:prstGeom>
          <a:solidFill>
            <a:srgbClr val="3D4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200" y="4261104"/>
            <a:ext cx="402336" cy="402336"/>
          </a:xfrm>
          <a:prstGeom prst="ellipse">
            <a:avLst/>
          </a:prstGeom>
          <a:solidFill>
            <a:srgbClr val="252880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61104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Calibri"/>
              </a:rPr>
              <a:t>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4169664"/>
            <a:ext cx="2011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Learn &amp; Iterate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27248" y="4169664"/>
            <a:ext cx="5577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8B9DB5"/>
                </a:solidFill>
                <a:latin typeface="Calibri"/>
              </a:rPr>
              <a:t>Tracks performance, updates Brand Brain from wins, generates better campaigns automatically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3D4E6A"/>
                </a:solidFill>
                <a:latin typeface="Calibri"/>
              </a:rPr>
              <a:t>Not a generator. Not a scheduler. A full marketing OS that learns, creates, and publishes autonomously.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366F1"/>
                </a:solidFill>
                <a:latin typeface="Calibr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4 Specialized AI Agents — Your Full Marketing Department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280160"/>
            <a:ext cx="4078224" cy="1737360"/>
          </a:xfrm>
          <a:prstGeom prst="rect">
            <a:avLst/>
          </a:prstGeom>
          <a:solidFill>
            <a:srgbClr val="14143A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280160"/>
            <a:ext cx="64008" cy="1737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371600"/>
            <a:ext cx="475488" cy="475488"/>
          </a:xfrm>
          <a:prstGeom prst="ellipse">
            <a:avLst/>
          </a:prstGeom>
          <a:solidFill>
            <a:srgbClr val="252880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  <a:latin typeface="Calibri"/>
              </a:rPr>
              <a:t>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353312"/>
            <a:ext cx="3108960" cy="38404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75564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366F1"/>
                </a:solidFill>
                <a:latin typeface="Calibri"/>
              </a:rPr>
              <a:t>Content Director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38528"/>
            <a:ext cx="3840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Campaign wizard, AI video generation, brand-voice scripts,</a:t>
            </a:r>
          </a:p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hooks, captions, content calendar, storyboards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73168" y="1280160"/>
            <a:ext cx="4078224" cy="1737360"/>
          </a:xfrm>
          <a:prstGeom prst="rect">
            <a:avLst/>
          </a:prstGeom>
          <a:solidFill>
            <a:srgbClr val="14143A"/>
          </a:solidFill>
          <a:ln w="1016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73168" y="1280160"/>
            <a:ext cx="64008" cy="17373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937759" y="1371600"/>
            <a:ext cx="475488" cy="475488"/>
          </a:xfrm>
          <a:prstGeom prst="ellipse">
            <a:avLst/>
          </a:prstGeom>
          <a:solidFill>
            <a:srgbClr val="252880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59" y="13716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EC4899"/>
                </a:solidFill>
                <a:latin typeface="Calibri"/>
              </a:rPr>
              <a:t>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0407" y="1353312"/>
            <a:ext cx="3108960" cy="38404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0407" y="175564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  <a:latin typeface="Calibri"/>
              </a:rPr>
              <a:t>Ad Specialist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59" y="1938528"/>
            <a:ext cx="3840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Performance ad copy, A/B variants, headline testing,</a:t>
            </a:r>
          </a:p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CTA optimization, paid media briefs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182112"/>
            <a:ext cx="4078224" cy="1737360"/>
          </a:xfrm>
          <a:prstGeom prst="rect">
            <a:avLst/>
          </a:prstGeom>
          <a:solidFill>
            <a:srgbClr val="14143A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3182112"/>
            <a:ext cx="64008" cy="1737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" y="3273552"/>
            <a:ext cx="475488" cy="475488"/>
          </a:xfrm>
          <a:prstGeom prst="ellipse">
            <a:avLst/>
          </a:prstGeom>
          <a:solidFill>
            <a:srgbClr val="25288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273552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06B6D4"/>
                </a:solidFill>
                <a:latin typeface="Calibri"/>
              </a:rPr>
              <a:t>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" y="3255264"/>
            <a:ext cx="3108960" cy="38404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PULSE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1288" y="365760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alibri"/>
              </a:rPr>
              <a:t>Market Analyst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840480"/>
            <a:ext cx="3840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Market intelligence, competitor analysis, trend detection,</a:t>
            </a:r>
          </a:p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strategic positioning recommendations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73168" y="3182112"/>
            <a:ext cx="4078224" cy="1737360"/>
          </a:xfrm>
          <a:prstGeom prst="rect">
            <a:avLst/>
          </a:prstGeom>
          <a:solidFill>
            <a:srgbClr val="14143A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73168" y="3182112"/>
            <a:ext cx="64008" cy="1737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37759" y="3273552"/>
            <a:ext cx="475488" cy="475488"/>
          </a:xfrm>
          <a:prstGeom prst="ellipse">
            <a:avLst/>
          </a:prstGeom>
          <a:solidFill>
            <a:srgbClr val="25288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59" y="3273552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0407" y="3255264"/>
            <a:ext cx="3108960" cy="38404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Sentinel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50407" y="365760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Brand Guardian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59" y="3840480"/>
            <a:ext cx="3840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Pre-publish review, brand compliance, risk analysis,</a:t>
            </a:r>
          </a:p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quality gate before every campaign goes live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B6D4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 $13.7B Market at 13% CAGR</a:t>
            </a:r>
          </a:p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Zero Dedicated Arabic AI Competitor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1115568"/>
            <a:ext cx="3840480" cy="3657600"/>
          </a:xfrm>
          <a:prstGeom prst="ellipse">
            <a:avLst/>
          </a:prstGeom>
          <a:solidFill>
            <a:srgbClr val="1A1A5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DB5"/>
                </a:solidFill>
                <a:latin typeface="Calibri"/>
              </a:rPr>
              <a:t>TAM  $13.7B</a:t>
            </a:r>
          </a:p>
          <a:p>
            <a:pPr algn="ctr"/>
            <a:r>
              <a:rPr sz="1000" b="0" i="0">
                <a:solidFill>
                  <a:srgbClr val="8B9DB5"/>
                </a:solidFill>
                <a:latin typeface="Calibri"/>
              </a:rPr>
              <a:t>Global Marketing</a:t>
            </a:r>
          </a:p>
          <a:p>
            <a:pPr algn="ctr"/>
            <a:r>
              <a:rPr sz="1000" b="0" i="0">
                <a:solidFill>
                  <a:srgbClr val="8B9DB5"/>
                </a:solidFill>
                <a:latin typeface="Calibri"/>
              </a:rPr>
              <a:t>Automation by 2030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847088"/>
            <a:ext cx="2651760" cy="2423160"/>
          </a:xfrm>
          <a:prstGeom prst="ellipse">
            <a:avLst/>
          </a:prstGeom>
          <a:solidFill>
            <a:srgbClr val="0A304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DB5"/>
                </a:solidFill>
                <a:latin typeface="Calibri"/>
              </a:rPr>
              <a:t>SAM  $2.1B</a:t>
            </a:r>
          </a:p>
          <a:p>
            <a:pPr algn="ctr"/>
            <a:r>
              <a:rPr sz="1000" b="0" i="0">
                <a:solidFill>
                  <a:srgbClr val="8B9DB5"/>
                </a:solidFill>
                <a:latin typeface="Calibri"/>
              </a:rPr>
              <a:t>MENA SME Digital</a:t>
            </a:r>
          </a:p>
        </p:txBody>
      </p:sp>
      <p:sp>
        <p:nvSpPr>
          <p:cNvPr id="9" name="Oval 8"/>
          <p:cNvSpPr/>
          <p:nvPr/>
        </p:nvSpPr>
        <p:spPr>
          <a:xfrm>
            <a:off x="1481328" y="2606040"/>
            <a:ext cx="1426464" cy="1280160"/>
          </a:xfrm>
          <a:prstGeom prst="ellipse">
            <a:avLst/>
          </a:prstGeom>
          <a:solidFill>
            <a:srgbClr val="083A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1328" y="2606040"/>
            <a:ext cx="1426464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SOM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$120M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261872"/>
            <a:ext cx="4160520" cy="822960"/>
          </a:xfrm>
          <a:prstGeom prst="rect">
            <a:avLst/>
          </a:prstGeom>
          <a:solidFill>
            <a:srgbClr val="14143A"/>
          </a:solidFill>
          <a:ln w="635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261872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6366F1"/>
                </a:solidFill>
                <a:latin typeface="Arial Black"/>
              </a:rPr>
              <a:t>500K+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371600"/>
            <a:ext cx="27889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8B9DB5"/>
                </a:solidFill>
                <a:latin typeface="Calibri"/>
              </a:rPr>
              <a:t>Active SMEs in UAE/KSA/Egypt running digital campaigns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231136"/>
            <a:ext cx="4160520" cy="822960"/>
          </a:xfrm>
          <a:prstGeom prst="rect">
            <a:avLst/>
          </a:prstGeom>
          <a:solidFill>
            <a:srgbClr val="14143A"/>
          </a:solidFill>
          <a:ln w="635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231136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6366F1"/>
                </a:solidFill>
                <a:latin typeface="Arial Black"/>
              </a:rPr>
              <a:t>43%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340864"/>
            <a:ext cx="27889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8B9DB5"/>
                </a:solidFill>
                <a:latin typeface="Calibri"/>
              </a:rPr>
              <a:t>CAGR of AI SaaS adoption in MENA (2024-2028)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3200400"/>
            <a:ext cx="4160520" cy="822960"/>
          </a:xfrm>
          <a:prstGeom prst="rect">
            <a:avLst/>
          </a:prstGeom>
          <a:solidFill>
            <a:srgbClr val="14143A"/>
          </a:solidFill>
          <a:ln w="635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200400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6366F1"/>
                </a:solidFill>
                <a:latin typeface="Arial Black"/>
              </a:rPr>
              <a:t>$149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310128"/>
            <a:ext cx="27889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8B9DB5"/>
                </a:solidFill>
                <a:latin typeface="Calibri"/>
              </a:rPr>
              <a:t>Target ARPU — Pro plan + credit top-ups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4169664"/>
            <a:ext cx="4160520" cy="822960"/>
          </a:xfrm>
          <a:prstGeom prst="rect">
            <a:avLst/>
          </a:prstGeom>
          <a:solidFill>
            <a:srgbClr val="14143A"/>
          </a:solidFill>
          <a:ln w="635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4169664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6366F1"/>
                </a:solidFill>
                <a:latin typeface="Arial Black"/>
              </a:rPr>
              <a:t>Zero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279392"/>
            <a:ext cx="27889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8B9DB5"/>
                </a:solidFill>
                <a:latin typeface="Calibri"/>
              </a:rPr>
              <a:t>Dedicated Arabic-first AI marketing OS in market today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0B981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Subscription + AI Credits</a:t>
            </a:r>
          </a:p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High-Margin, Recurring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1298448"/>
            <a:ext cx="2724912" cy="3611880"/>
          </a:xfrm>
          <a:prstGeom prst="rect">
            <a:avLst/>
          </a:prstGeom>
          <a:solidFill>
            <a:srgbClr val="14143A"/>
          </a:solidFill>
          <a:ln w="889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426464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828800"/>
            <a:ext cx="25420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366F1"/>
                </a:solidFill>
                <a:latin typeface="Arial Black"/>
              </a:rPr>
              <a:t>$49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41401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DB5"/>
                </a:solidFill>
                <a:latin typeface="Calibri"/>
              </a:rPr>
              <a:t>/month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670048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6B6D4"/>
                </a:solidFill>
                <a:latin typeface="Calibri"/>
              </a:rPr>
              <a:t>100 AI credits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99232"/>
            <a:ext cx="2395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+ 3 campaigns/month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2395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+ Brand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75888"/>
            <a:ext cx="2395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+ Image &amp; Content 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14216"/>
            <a:ext cx="2395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+ Manual Publishing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52544"/>
            <a:ext cx="2395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+ Email support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45536" y="1298448"/>
            <a:ext cx="2724912" cy="3611880"/>
          </a:xfrm>
          <a:prstGeom prst="rect">
            <a:avLst/>
          </a:prstGeom>
          <a:solidFill>
            <a:srgbClr val="14143A"/>
          </a:solidFill>
          <a:ln w="228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45536" y="1298448"/>
            <a:ext cx="2724912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36976" y="1298448"/>
            <a:ext cx="254203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MOST 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36976" y="1719072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6976" y="2121408"/>
            <a:ext cx="25420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$99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36976" y="2706624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DB5"/>
                </a:solidFill>
                <a:latin typeface="Calibri"/>
              </a:rPr>
              <a:t>/month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6976" y="2962656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6B6D4"/>
                </a:solidFill>
                <a:latin typeface="Calibri"/>
              </a:rPr>
              <a:t>300 AI credits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3291839"/>
            <a:ext cx="2395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+ Unlimited campaigns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128" y="3630168"/>
            <a:ext cx="2395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+ Video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3968496"/>
            <a:ext cx="2395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+ Auto-Publish (4 platforms)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128" y="4306823"/>
            <a:ext cx="2395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+ Analytics &amp; insights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0128" y="4645152"/>
            <a:ext cx="2395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+ Priority support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98464" y="1298448"/>
            <a:ext cx="2724912" cy="3611880"/>
          </a:xfrm>
          <a:prstGeom prst="rect">
            <a:avLst/>
          </a:prstGeom>
          <a:solidFill>
            <a:srgbClr val="14143A"/>
          </a:solidFill>
          <a:ln w="889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9904" y="1426464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Enterprise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9904" y="1828800"/>
            <a:ext cx="25420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366F1"/>
                </a:solidFill>
                <a:latin typeface="Arial Black"/>
              </a:rPr>
              <a:t>$199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9904" y="241401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DB5"/>
                </a:solidFill>
                <a:latin typeface="Calibri"/>
              </a:rPr>
              <a:t>/month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9904" y="2670048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6B6D4"/>
                </a:solidFill>
                <a:latin typeface="Calibri"/>
              </a:rPr>
              <a:t>1,000 AI credits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3056" y="2999232"/>
            <a:ext cx="2395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+ White-label option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63056" y="3337560"/>
            <a:ext cx="2395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+ Team collaboration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3056" y="3675888"/>
            <a:ext cx="2395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+ API 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63056" y="4014216"/>
            <a:ext cx="2395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+ Custom brand rules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63056" y="4352544"/>
            <a:ext cx="2395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+ Dedicated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366F1"/>
                </a:solidFill>
                <a:latin typeface="Calibri"/>
              </a:rPr>
              <a:t>COMPETITIVE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Why Nexus AI — Not ChatGPT, Jasper, Buffer, or HubSpot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261872"/>
            <a:ext cx="2011680" cy="384048"/>
          </a:xfrm>
          <a:prstGeom prst="rect">
            <a:avLst/>
          </a:prstGeom>
          <a:solidFill>
            <a:srgbClr val="1C1C48"/>
          </a:solidFill>
          <a:ln w="635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61872"/>
            <a:ext cx="1920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395728" y="1261872"/>
            <a:ext cx="1508760" cy="384048"/>
          </a:xfrm>
          <a:prstGeom prst="rect">
            <a:avLst/>
          </a:prstGeom>
          <a:solidFill>
            <a:srgbClr val="1C1C48"/>
          </a:solidFill>
          <a:ln w="635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41448" y="1261872"/>
            <a:ext cx="141731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ChatGPT / Jasper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904487" y="1261872"/>
            <a:ext cx="1508760" cy="384048"/>
          </a:xfrm>
          <a:prstGeom prst="rect">
            <a:avLst/>
          </a:prstGeom>
          <a:solidFill>
            <a:srgbClr val="1C1C48"/>
          </a:solidFill>
          <a:ln w="635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0207" y="1261872"/>
            <a:ext cx="141731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Buffer / Hootsuite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13248" y="1261872"/>
            <a:ext cx="1325880" cy="384048"/>
          </a:xfrm>
          <a:prstGeom prst="rect">
            <a:avLst/>
          </a:prstGeom>
          <a:solidFill>
            <a:srgbClr val="1C1C48"/>
          </a:solidFill>
          <a:ln w="635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58968" y="1261872"/>
            <a:ext cx="12344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HubSpot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39128" y="1261872"/>
            <a:ext cx="1536192" cy="384048"/>
          </a:xfrm>
          <a:prstGeom prst="rect">
            <a:avLst/>
          </a:prstGeom>
          <a:solidFill>
            <a:srgbClr val="6366F1"/>
          </a:solidFill>
          <a:ln w="635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1261872"/>
            <a:ext cx="144475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NEXUS AI 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1664208"/>
            <a:ext cx="2011680" cy="420624"/>
          </a:xfrm>
          <a:prstGeom prst="rect">
            <a:avLst/>
          </a:prstGeom>
          <a:solidFill>
            <a:srgbClr val="14143A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1664208"/>
            <a:ext cx="19202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Brand Memory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95728" y="1664208"/>
            <a:ext cx="1508760" cy="420624"/>
          </a:xfrm>
          <a:prstGeom prst="rect">
            <a:avLst/>
          </a:prstGeom>
          <a:solidFill>
            <a:srgbClr val="14143A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41448" y="1664208"/>
            <a:ext cx="141731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F43F5E"/>
                </a:solidFill>
                <a:latin typeface="Calibri"/>
              </a:rPr>
              <a:t>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04487" y="1664208"/>
            <a:ext cx="1508760" cy="420624"/>
          </a:xfrm>
          <a:prstGeom prst="rect">
            <a:avLst/>
          </a:prstGeom>
          <a:solidFill>
            <a:srgbClr val="14143A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0207" y="1664208"/>
            <a:ext cx="141731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F43F5E"/>
                </a:solidFill>
                <a:latin typeface="Calibri"/>
              </a:rPr>
              <a:t>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13248" y="1664208"/>
            <a:ext cx="1325880" cy="420624"/>
          </a:xfrm>
          <a:prstGeom prst="rect">
            <a:avLst/>
          </a:prstGeom>
          <a:solidFill>
            <a:srgbClr val="14143A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58968" y="1664208"/>
            <a:ext cx="123443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8B9DB5"/>
                </a:solidFill>
                <a:latin typeface="Calibri"/>
              </a:rPr>
              <a:t>Partial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39128" y="1664208"/>
            <a:ext cx="1536192" cy="420624"/>
          </a:xfrm>
          <a:prstGeom prst="rect">
            <a:avLst/>
          </a:prstGeom>
          <a:solidFill>
            <a:srgbClr val="16164A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4848" y="1664208"/>
            <a:ext cx="1444751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i="0">
                <a:solidFill>
                  <a:srgbClr val="10B981"/>
                </a:solidFill>
                <a:latin typeface="Calibri"/>
              </a:rPr>
              <a:t>+ Full DNA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2093976"/>
            <a:ext cx="2011680" cy="420624"/>
          </a:xfrm>
          <a:prstGeom prst="rect">
            <a:avLst/>
          </a:prstGeom>
          <a:solidFill>
            <a:srgbClr val="111135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2093976"/>
            <a:ext cx="19202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Campaign Strategy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95728" y="2093976"/>
            <a:ext cx="1508760" cy="420624"/>
          </a:xfrm>
          <a:prstGeom prst="rect">
            <a:avLst/>
          </a:prstGeom>
          <a:solidFill>
            <a:srgbClr val="111135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41448" y="2093976"/>
            <a:ext cx="141731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8B9DB5"/>
                </a:solidFill>
                <a:latin typeface="Calibri"/>
              </a:rPr>
              <a:t>Manual prompt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04487" y="2093976"/>
            <a:ext cx="1508760" cy="420624"/>
          </a:xfrm>
          <a:prstGeom prst="rect">
            <a:avLst/>
          </a:prstGeom>
          <a:solidFill>
            <a:srgbClr val="111135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50207" y="2093976"/>
            <a:ext cx="141731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F43F5E"/>
                </a:solidFill>
                <a:latin typeface="Calibri"/>
              </a:rPr>
              <a:t>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13248" y="2093976"/>
            <a:ext cx="1325880" cy="420624"/>
          </a:xfrm>
          <a:prstGeom prst="rect">
            <a:avLst/>
          </a:prstGeom>
          <a:solidFill>
            <a:srgbClr val="111135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58968" y="2093976"/>
            <a:ext cx="123443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8B9DB5"/>
                </a:solidFill>
                <a:latin typeface="Calibri"/>
              </a:rPr>
              <a:t>Templates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39128" y="2093976"/>
            <a:ext cx="1536192" cy="420624"/>
          </a:xfrm>
          <a:prstGeom prst="rect">
            <a:avLst/>
          </a:prstGeom>
          <a:solidFill>
            <a:srgbClr val="12123E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84848" y="2093976"/>
            <a:ext cx="1444751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i="0">
                <a:solidFill>
                  <a:srgbClr val="10B981"/>
                </a:solidFill>
                <a:latin typeface="Calibri"/>
              </a:rPr>
              <a:t>+ AI-native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2523744"/>
            <a:ext cx="2011680" cy="420624"/>
          </a:xfrm>
          <a:prstGeom prst="rect">
            <a:avLst/>
          </a:prstGeom>
          <a:solidFill>
            <a:srgbClr val="14143A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" y="2523744"/>
            <a:ext cx="19202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Video Generation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95728" y="2523744"/>
            <a:ext cx="1508760" cy="420624"/>
          </a:xfrm>
          <a:prstGeom prst="rect">
            <a:avLst/>
          </a:prstGeom>
          <a:solidFill>
            <a:srgbClr val="14143A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41448" y="2523744"/>
            <a:ext cx="141731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F43F5E"/>
                </a:solidFill>
                <a:latin typeface="Calibri"/>
              </a:rPr>
              <a:t>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04487" y="2523744"/>
            <a:ext cx="1508760" cy="420624"/>
          </a:xfrm>
          <a:prstGeom prst="rect">
            <a:avLst/>
          </a:prstGeom>
          <a:solidFill>
            <a:srgbClr val="14143A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50207" y="2523744"/>
            <a:ext cx="141731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F43F5E"/>
                </a:solidFill>
                <a:latin typeface="Calibri"/>
              </a:rPr>
              <a:t>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13248" y="2523744"/>
            <a:ext cx="1325880" cy="420624"/>
          </a:xfrm>
          <a:prstGeom prst="rect">
            <a:avLst/>
          </a:prstGeom>
          <a:solidFill>
            <a:srgbClr val="14143A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58968" y="2523744"/>
            <a:ext cx="123443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F43F5E"/>
                </a:solidFill>
                <a:latin typeface="Calibri"/>
              </a:rPr>
              <a:t>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39128" y="2523744"/>
            <a:ext cx="1536192" cy="420624"/>
          </a:xfrm>
          <a:prstGeom prst="rect">
            <a:avLst/>
          </a:prstGeom>
          <a:solidFill>
            <a:srgbClr val="16164A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84848" y="2523744"/>
            <a:ext cx="1444751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i="0">
                <a:solidFill>
                  <a:srgbClr val="10B981"/>
                </a:solidFill>
                <a:latin typeface="Calibri"/>
              </a:rPr>
              <a:t>+ Built-in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2953512"/>
            <a:ext cx="2011680" cy="420624"/>
          </a:xfrm>
          <a:prstGeom prst="rect">
            <a:avLst/>
          </a:prstGeom>
          <a:solidFill>
            <a:srgbClr val="111135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" y="2953512"/>
            <a:ext cx="19202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Arabic / MENA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95728" y="2953512"/>
            <a:ext cx="1508760" cy="420624"/>
          </a:xfrm>
          <a:prstGeom prst="rect">
            <a:avLst/>
          </a:prstGeom>
          <a:solidFill>
            <a:srgbClr val="111135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41448" y="2953512"/>
            <a:ext cx="141731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8B9DB5"/>
                </a:solidFill>
                <a:latin typeface="Calibri"/>
              </a:rPr>
              <a:t>Basic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04487" y="2953512"/>
            <a:ext cx="1508760" cy="420624"/>
          </a:xfrm>
          <a:prstGeom prst="rect">
            <a:avLst/>
          </a:prstGeom>
          <a:solidFill>
            <a:srgbClr val="111135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50207" y="2953512"/>
            <a:ext cx="141731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F43F5E"/>
                </a:solidFill>
                <a:latin typeface="Calibri"/>
              </a:rPr>
              <a:t>x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13248" y="2953512"/>
            <a:ext cx="1325880" cy="420624"/>
          </a:xfrm>
          <a:prstGeom prst="rect">
            <a:avLst/>
          </a:prstGeom>
          <a:solidFill>
            <a:srgbClr val="111135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58968" y="2953512"/>
            <a:ext cx="123443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F43F5E"/>
                </a:solidFill>
                <a:latin typeface="Calibri"/>
              </a:rPr>
              <a:t>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39128" y="2953512"/>
            <a:ext cx="1536192" cy="420624"/>
          </a:xfrm>
          <a:prstGeom prst="rect">
            <a:avLst/>
          </a:prstGeom>
          <a:solidFill>
            <a:srgbClr val="12123E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84848" y="2953512"/>
            <a:ext cx="1444751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i="0">
                <a:solidFill>
                  <a:srgbClr val="10B981"/>
                </a:solidFill>
                <a:latin typeface="Calibri"/>
              </a:rPr>
              <a:t>+ First-class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" y="3383280"/>
            <a:ext cx="2011680" cy="420624"/>
          </a:xfrm>
          <a:prstGeom prst="rect">
            <a:avLst/>
          </a:prstGeom>
          <a:solidFill>
            <a:srgbClr val="14143A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9768" y="3383280"/>
            <a:ext cx="19202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SME Pricing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95728" y="3383280"/>
            <a:ext cx="1508760" cy="420624"/>
          </a:xfrm>
          <a:prstGeom prst="rect">
            <a:avLst/>
          </a:prstGeom>
          <a:solidFill>
            <a:srgbClr val="14143A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41448" y="3383280"/>
            <a:ext cx="141731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8B9DB5"/>
                </a:solidFill>
                <a:latin typeface="Calibri"/>
              </a:rPr>
              <a:t>Pay-per-use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04487" y="3383280"/>
            <a:ext cx="1508760" cy="420624"/>
          </a:xfrm>
          <a:prstGeom prst="rect">
            <a:avLst/>
          </a:prstGeom>
          <a:solidFill>
            <a:srgbClr val="14143A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50207" y="3383280"/>
            <a:ext cx="141731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8B9DB5"/>
                </a:solidFill>
                <a:latin typeface="Calibri"/>
              </a:rPr>
              <a:t>$18+/mo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13248" y="3383280"/>
            <a:ext cx="1325880" cy="420624"/>
          </a:xfrm>
          <a:prstGeom prst="rect">
            <a:avLst/>
          </a:prstGeom>
          <a:solidFill>
            <a:srgbClr val="14143A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58968" y="3383280"/>
            <a:ext cx="123443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8B9DB5"/>
                </a:solidFill>
                <a:latin typeface="Calibri"/>
              </a:rPr>
              <a:t>$800+/mo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39128" y="3383280"/>
            <a:ext cx="1536192" cy="420624"/>
          </a:xfrm>
          <a:prstGeom prst="rect">
            <a:avLst/>
          </a:prstGeom>
          <a:solidFill>
            <a:srgbClr val="16164A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84848" y="3383280"/>
            <a:ext cx="1444751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i="0">
                <a:solidFill>
                  <a:srgbClr val="10B981"/>
                </a:solidFill>
                <a:latin typeface="Calibri"/>
              </a:rPr>
              <a:t>+ $49-$199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4048" y="3813048"/>
            <a:ext cx="2011680" cy="420624"/>
          </a:xfrm>
          <a:prstGeom prst="rect">
            <a:avLst/>
          </a:prstGeom>
          <a:solidFill>
            <a:srgbClr val="111135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9768" y="3813048"/>
            <a:ext cx="19202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Auto-Publish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395728" y="3813048"/>
            <a:ext cx="1508760" cy="420624"/>
          </a:xfrm>
          <a:prstGeom prst="rect">
            <a:avLst/>
          </a:prstGeom>
          <a:solidFill>
            <a:srgbClr val="111135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441448" y="3813048"/>
            <a:ext cx="141731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F43F5E"/>
                </a:solidFill>
                <a:latin typeface="Calibri"/>
              </a:rPr>
              <a:t>x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04487" y="3813048"/>
            <a:ext cx="1508760" cy="420624"/>
          </a:xfrm>
          <a:prstGeom prst="rect">
            <a:avLst/>
          </a:prstGeom>
          <a:solidFill>
            <a:srgbClr val="111135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950207" y="3813048"/>
            <a:ext cx="141731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8B9DB5"/>
                </a:solidFill>
                <a:latin typeface="Calibri"/>
              </a:rPr>
              <a:t>+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13248" y="3813048"/>
            <a:ext cx="1325880" cy="420624"/>
          </a:xfrm>
          <a:prstGeom prst="rect">
            <a:avLst/>
          </a:prstGeom>
          <a:solidFill>
            <a:srgbClr val="111135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58968" y="3813048"/>
            <a:ext cx="123443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8B9DB5"/>
                </a:solidFill>
                <a:latin typeface="Calibri"/>
              </a:rPr>
              <a:t>+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39128" y="3813048"/>
            <a:ext cx="1536192" cy="420624"/>
          </a:xfrm>
          <a:prstGeom prst="rect">
            <a:avLst/>
          </a:prstGeom>
          <a:solidFill>
            <a:srgbClr val="12123E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84848" y="3813048"/>
            <a:ext cx="1444751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i="0">
                <a:solidFill>
                  <a:srgbClr val="10B981"/>
                </a:solidFill>
                <a:latin typeface="Calibri"/>
              </a:rPr>
              <a:t>+ AI briefs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84048" y="4242816"/>
            <a:ext cx="2011680" cy="420624"/>
          </a:xfrm>
          <a:prstGeom prst="rect">
            <a:avLst/>
          </a:prstGeom>
          <a:solidFill>
            <a:srgbClr val="14143A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9768" y="4242816"/>
            <a:ext cx="19202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Full Workflow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395728" y="4242816"/>
            <a:ext cx="1508760" cy="420624"/>
          </a:xfrm>
          <a:prstGeom prst="rect">
            <a:avLst/>
          </a:prstGeom>
          <a:solidFill>
            <a:srgbClr val="14143A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441448" y="4242816"/>
            <a:ext cx="141731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F43F5E"/>
                </a:solidFill>
                <a:latin typeface="Calibri"/>
              </a:rPr>
              <a:t>x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904487" y="4242816"/>
            <a:ext cx="1508760" cy="420624"/>
          </a:xfrm>
          <a:prstGeom prst="rect">
            <a:avLst/>
          </a:prstGeom>
          <a:solidFill>
            <a:srgbClr val="14143A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50207" y="4242816"/>
            <a:ext cx="141731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F43F5E"/>
                </a:solidFill>
                <a:latin typeface="Calibri"/>
              </a:rPr>
              <a:t>x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13248" y="4242816"/>
            <a:ext cx="1325880" cy="420624"/>
          </a:xfrm>
          <a:prstGeom prst="rect">
            <a:avLst/>
          </a:prstGeom>
          <a:solidFill>
            <a:srgbClr val="14143A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58968" y="4242816"/>
            <a:ext cx="123443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8B9DB5"/>
                </a:solidFill>
                <a:latin typeface="Calibri"/>
              </a:rPr>
              <a:t>Partial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739128" y="4242816"/>
            <a:ext cx="1536192" cy="420624"/>
          </a:xfrm>
          <a:prstGeom prst="rect">
            <a:avLst/>
          </a:prstGeom>
          <a:solidFill>
            <a:srgbClr val="16164A"/>
          </a:solidFill>
          <a:ln w="3810">
            <a:solidFill>
              <a:srgbClr val="3D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784848" y="4242816"/>
            <a:ext cx="1444751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i="0">
                <a:solidFill>
                  <a:srgbClr val="10B981"/>
                </a:solidFill>
                <a:latin typeface="Calibri"/>
              </a:rPr>
              <a:t>+ End-to-end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3D4E6A"/>
                </a:solidFill>
                <a:latin typeface="Calibri"/>
              </a:rPr>
              <a:t>+ Only Nexus AI offers the complete stack — brand memory, strategy, media generation, and publishing — in one platform.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Calibri"/>
              </a:rPr>
              <a:t>TRACTION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Product Complete. Launching with Hub71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98448"/>
            <a:ext cx="3977639" cy="3520440"/>
          </a:xfrm>
          <a:prstGeom prst="rect">
            <a:avLst/>
          </a:prstGeom>
          <a:solidFill>
            <a:srgbClr val="14143A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WHAT WE'VE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82880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v  Full Campaign Wizard (strategy + AI content generation)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12140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v  Brand Brain — multi-field learning &amp; memory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41401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v  4 AI Agents: NEX, VEX, PULSE, Sentinel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70662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v  AI Image + Video generation (GPT-4o + Replicate)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99923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v  Auto TTS voiceover + audio merge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29184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v  Publishing API: TikTok, Meta, LinkedIn, Facebook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58444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v  Autopilot — scheduled AI campaign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87705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    Stripe billing + 3-tier subscription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416966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    Admin dashboard + Sentry error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446227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    Bilingual AR/EN — full RTL/LTR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298448"/>
            <a:ext cx="4160520" cy="3520440"/>
          </a:xfrm>
          <a:prstGeom prst="rect">
            <a:avLst/>
          </a:prstGeom>
          <a:solidFill>
            <a:srgbClr val="14143A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141732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alibri"/>
              </a:rPr>
              <a:t>12-MONTH MILESTONES</a:t>
            </a:r>
          </a:p>
        </p:txBody>
      </p:sp>
      <p:sp>
        <p:nvSpPr>
          <p:cNvPr id="19" name="Oval 18"/>
          <p:cNvSpPr/>
          <p:nvPr/>
        </p:nvSpPr>
        <p:spPr>
          <a:xfrm>
            <a:off x="4800600" y="1993392"/>
            <a:ext cx="201168" cy="20116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1901952"/>
            <a:ext cx="1371600" cy="34747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Q1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2494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100 beta users · $5K MRR · Abu Dhabi GTM launch</a:t>
            </a:r>
          </a:p>
        </p:txBody>
      </p:sp>
      <p:sp>
        <p:nvSpPr>
          <p:cNvPr id="22" name="Oval 21"/>
          <p:cNvSpPr/>
          <p:nvPr/>
        </p:nvSpPr>
        <p:spPr>
          <a:xfrm>
            <a:off x="4800600" y="2770632"/>
            <a:ext cx="201168" cy="201168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679192"/>
            <a:ext cx="1371600" cy="34747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Q2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30266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500 active users · $25K MRR · Agency white-label</a:t>
            </a:r>
          </a:p>
        </p:txBody>
      </p:sp>
      <p:sp>
        <p:nvSpPr>
          <p:cNvPr id="25" name="Oval 24"/>
          <p:cNvSpPr/>
          <p:nvPr/>
        </p:nvSpPr>
        <p:spPr>
          <a:xfrm>
            <a:off x="4800600" y="3547872"/>
            <a:ext cx="201168" cy="201168"/>
          </a:xfrm>
          <a:prstGeom prst="ellipse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456432"/>
            <a:ext cx="1371600" cy="34747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Q3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380390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1,500 users · $75K MRR · KSA expansion</a:t>
            </a:r>
          </a:p>
        </p:txBody>
      </p:sp>
      <p:sp>
        <p:nvSpPr>
          <p:cNvPr id="28" name="Oval 27"/>
          <p:cNvSpPr/>
          <p:nvPr/>
        </p:nvSpPr>
        <p:spPr>
          <a:xfrm>
            <a:off x="4800600" y="4325112"/>
            <a:ext cx="201168" cy="20116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4233672"/>
            <a:ext cx="1371600" cy="34747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Q4 2027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458114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3,000 users · $150K MRR · Series A prep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366F1"/>
                </a:solidFill>
                <a:latin typeface="Calibri"/>
              </a:rP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Built Solo. Scaling in Abu Dhabi with Hub71.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280160"/>
            <a:ext cx="6400800" cy="2304288"/>
          </a:xfrm>
          <a:prstGeom prst="rect">
            <a:avLst/>
          </a:prstGeom>
          <a:solidFill>
            <a:srgbClr val="14143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" y="1444752"/>
            <a:ext cx="1371600" cy="1371600"/>
          </a:xfrm>
          <a:prstGeom prst="ellipse">
            <a:avLst/>
          </a:prstGeom>
          <a:solidFill>
            <a:srgbClr val="252880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1444752"/>
            <a:ext cx="1371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389888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Raouf Naguib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874519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4"/>
                </a:solidFill>
                <a:latin typeface="Calibri"/>
              </a:rPr>
              <a:t>Founder &amp; CEO  |  Full-Stack AI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28600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Next.js · TypeScript · Python · OpenAI API · Replicate</a:t>
            </a:r>
          </a:p>
          <a:p>
            <a:pPr algn="l"/>
            <a:r>
              <a:rPr sz="950" b="0" i="0">
                <a:solidFill>
                  <a:srgbClr val="8B9DB5"/>
                </a:solidFill>
                <a:latin typeface="Calibri"/>
              </a:rPr>
              <a:t>Supabase · Prisma · Stripe · Cloudinary · Vercel · Sentry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9260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D4E6A"/>
                </a:solidFill>
                <a:latin typeface="Calibri"/>
              </a:rPr>
              <a:t>Built entire Nexus AI platform solo — full-stack, AI pipelines, billing, publishing integrations.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730752"/>
            <a:ext cx="6400800" cy="804672"/>
          </a:xfrm>
          <a:prstGeom prst="rect">
            <a:avLst/>
          </a:prstGeom>
          <a:solidFill>
            <a:srgbClr val="1A1A5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794760"/>
            <a:ext cx="6126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With Hub71 support — hiring in Abu Dhabi: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-&gt; Growth Marketer (Q1)  ·  AI Engineer (Q2)  ·  Sales / BD (Q2)  ·  Customer Success (Q3)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6634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3D4E6A"/>
                </a:solidFill>
                <a:latin typeface="Calibri"/>
              </a:rPr>
              <a:t>Committed to building the company and team from Abu Dhabi long-term.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0B981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AED 500K Investment — Path to $150K MRR in 12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98448"/>
            <a:ext cx="4133087" cy="3566160"/>
          </a:xfrm>
          <a:prstGeom prst="rect">
            <a:avLst/>
          </a:prstGeom>
          <a:solidFill>
            <a:srgbClr val="14143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298448"/>
            <a:ext cx="4133087" cy="420624"/>
          </a:xfrm>
          <a:prstGeom prst="rect">
            <a:avLst/>
          </a:prstGeom>
          <a:solidFill>
            <a:srgbClr val="222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39502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AED 250,000 CASH (SAFE)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" y="1847088"/>
            <a:ext cx="658368" cy="530352"/>
          </a:xfrm>
          <a:prstGeom prst="rect">
            <a:avLst/>
          </a:prstGeom>
          <a:solidFill>
            <a:srgbClr val="18193C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847088"/>
            <a:ext cx="65836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6366F1"/>
                </a:solidFill>
                <a:latin typeface="Calibri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1847088"/>
            <a:ext cx="3154680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AI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2121408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DB5"/>
                </a:solidFill>
                <a:latin typeface="Calibri"/>
              </a:rPr>
              <a:t>OpenAI, Replicate, Cloudinary — scale to 3,000 users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" y="2615184"/>
            <a:ext cx="658368" cy="530352"/>
          </a:xfrm>
          <a:prstGeom prst="rect">
            <a:avLst/>
          </a:prstGeom>
          <a:solidFill>
            <a:srgbClr val="18193C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2615184"/>
            <a:ext cx="65836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6366F1"/>
                </a:solidFill>
                <a:latin typeface="Calibri"/>
              </a:rPr>
              <a:t>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2615184"/>
            <a:ext cx="3154680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Go-To-Market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889503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DB5"/>
                </a:solidFill>
                <a:latin typeface="Calibri"/>
              </a:rPr>
              <a:t>Paid acquisition, events, agency partnerships UAE/KSA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3383280"/>
            <a:ext cx="658368" cy="530352"/>
          </a:xfrm>
          <a:prstGeom prst="rect">
            <a:avLst/>
          </a:prstGeom>
          <a:solidFill>
            <a:srgbClr val="18193C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3383280"/>
            <a:ext cx="65836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6366F1"/>
                </a:solidFill>
                <a:latin typeface="Calibri"/>
              </a:rP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383280"/>
            <a:ext cx="3154680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657600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DB5"/>
                </a:solidFill>
                <a:latin typeface="Calibri"/>
              </a:rPr>
              <a:t>First 2 hires — Growth Marketer + AI Engineer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" y="4151376"/>
            <a:ext cx="658368" cy="530352"/>
          </a:xfrm>
          <a:prstGeom prst="rect">
            <a:avLst/>
          </a:prstGeom>
          <a:solidFill>
            <a:srgbClr val="18193C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4151376"/>
            <a:ext cx="65836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6366F1"/>
                </a:solidFill>
                <a:latin typeface="Calibri"/>
              </a:rPr>
              <a:t>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4151376"/>
            <a:ext cx="3154680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425696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DB5"/>
                </a:solidFill>
                <a:latin typeface="Calibri"/>
              </a:rPr>
              <a:t>Legal, compliance, Abu Dhabi entity setup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1298448"/>
            <a:ext cx="4133087" cy="3566160"/>
          </a:xfrm>
          <a:prstGeom prst="rect">
            <a:avLst/>
          </a:prstGeom>
          <a:solidFill>
            <a:srgbClr val="14143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54880" y="1298448"/>
            <a:ext cx="4133087" cy="420624"/>
          </a:xfrm>
          <a:prstGeom prst="rect">
            <a:avLst/>
          </a:prstGeom>
          <a:solidFill>
            <a:srgbClr val="023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1298448"/>
            <a:ext cx="39502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AED 250,000 IN-KIND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1847088"/>
            <a:ext cx="658368" cy="530352"/>
          </a:xfrm>
          <a:prstGeom prst="rect">
            <a:avLst/>
          </a:prstGeom>
          <a:solidFill>
            <a:srgbClr val="012D35"/>
          </a:solidFill>
          <a:ln w="63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1847088"/>
            <a:ext cx="65836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  <a:latin typeface="Calibri"/>
              </a:rPr>
              <a:t>Cloud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1847088"/>
            <a:ext cx="3154680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Compute Credits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2121408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DB5"/>
                </a:solidFill>
                <a:latin typeface="Calibri"/>
              </a:rPr>
              <a:t>AWS/Azure/Core42 credits for AI workloads at scale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2615184"/>
            <a:ext cx="658368" cy="530352"/>
          </a:xfrm>
          <a:prstGeom prst="rect">
            <a:avLst/>
          </a:prstGeom>
          <a:solidFill>
            <a:srgbClr val="012D35"/>
          </a:solidFill>
          <a:ln w="63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2615184"/>
            <a:ext cx="65836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  <a:latin typeface="Calibri"/>
              </a:rPr>
              <a:t>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3560" y="2615184"/>
            <a:ext cx="3154680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Partner Ecosystem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23560" y="2889503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DB5"/>
                </a:solidFill>
                <a:latin typeface="Calibri"/>
              </a:rPr>
              <a:t>Core42, AI71, NVIDIA, MBZUAI, Google for Startups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92040" y="3383280"/>
            <a:ext cx="658368" cy="530352"/>
          </a:xfrm>
          <a:prstGeom prst="rect">
            <a:avLst/>
          </a:prstGeom>
          <a:solidFill>
            <a:srgbClr val="012D35"/>
          </a:solidFill>
          <a:ln w="63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92040" y="3383280"/>
            <a:ext cx="65836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  <a:latin typeface="Calibri"/>
              </a:rPr>
              <a:t>Office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3383280"/>
            <a:ext cx="3154680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Hub71 Workspace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3560" y="3657600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DB5"/>
                </a:solidFill>
                <a:latin typeface="Calibri"/>
              </a:rPr>
              <a:t>Abu Dhabi HQ — credibility signal for enterprise clients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92040" y="4151376"/>
            <a:ext cx="658368" cy="530352"/>
          </a:xfrm>
          <a:prstGeom prst="rect">
            <a:avLst/>
          </a:prstGeom>
          <a:solidFill>
            <a:srgbClr val="012D35"/>
          </a:solidFill>
          <a:ln w="63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92040" y="4151376"/>
            <a:ext cx="65836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  <a:latin typeface="Calibri"/>
              </a:rPr>
              <a:t>Mentor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4151376"/>
            <a:ext cx="3154680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Expert Network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60" y="4425696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DB5"/>
                </a:solidFill>
                <a:latin typeface="Calibri"/>
              </a:rPr>
              <a:t>GTM advisors, MENA enterprise sales, AI product mentors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366F1"/>
                </a:solidFill>
                <a:latin typeface="Calibri"/>
              </a:rPr>
              <a:t>WHY HUB71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Abu Dhabi Is the Right Home</a:t>
            </a:r>
          </a:p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for an AI Marketing 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444752"/>
            <a:ext cx="2633472" cy="1417320"/>
          </a:xfrm>
          <a:prstGeom prst="rect">
            <a:avLst/>
          </a:prstGeom>
          <a:solidFill>
            <a:srgbClr val="14143A"/>
          </a:solidFill>
          <a:ln w="762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536192"/>
            <a:ext cx="475488" cy="475488"/>
          </a:xfrm>
          <a:prstGeom prst="ellipse">
            <a:avLst/>
          </a:prstGeom>
          <a:solidFill>
            <a:srgbClr val="252880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36192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  <a:latin typeface="Calibri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36192"/>
            <a:ext cx="190195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AI71 + Core42 + MBZUAI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66544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DB5"/>
                </a:solidFill>
                <a:latin typeface="Calibri"/>
              </a:rPr>
              <a:t>Deepest Arabic AI compute stack — Nexus AI leads on Arabic content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82112" y="1444752"/>
            <a:ext cx="2633472" cy="1417320"/>
          </a:xfrm>
          <a:prstGeom prst="rect">
            <a:avLst/>
          </a:prstGeom>
          <a:solidFill>
            <a:srgbClr val="14143A"/>
          </a:solidFill>
          <a:ln w="762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91840" y="1536192"/>
            <a:ext cx="475488" cy="475488"/>
          </a:xfrm>
          <a:prstGeom prst="ellipse">
            <a:avLst/>
          </a:prstGeom>
          <a:solidFill>
            <a:srgbClr val="252880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536192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  <a:latin typeface="Calibri"/>
              </a:rP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536192"/>
            <a:ext cx="190195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MENA Market Entry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066544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DB5"/>
                </a:solidFill>
                <a:latin typeface="Calibri"/>
              </a:rPr>
              <a:t>Hub71's enterprise network gives us direct pipeline to UAE/KSA corporations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16752" y="1444752"/>
            <a:ext cx="2633472" cy="1417320"/>
          </a:xfrm>
          <a:prstGeom prst="rect">
            <a:avLst/>
          </a:prstGeom>
          <a:solidFill>
            <a:srgbClr val="14143A"/>
          </a:solidFill>
          <a:ln w="762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26480" y="1536192"/>
            <a:ext cx="475488" cy="475488"/>
          </a:xfrm>
          <a:prstGeom prst="ellipse">
            <a:avLst/>
          </a:prstGeom>
          <a:solidFill>
            <a:srgbClr val="252880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536192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  <a:latin typeface="Calibr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536192"/>
            <a:ext cx="190195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AWS + NVIDIA + Google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066544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DB5"/>
                </a:solidFill>
                <a:latin typeface="Calibri"/>
              </a:rPr>
              <a:t>Compute credits cut AI infrastructure burn 60% in year 1 — enabling faster scale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3017520"/>
            <a:ext cx="2633472" cy="1417320"/>
          </a:xfrm>
          <a:prstGeom prst="rect">
            <a:avLst/>
          </a:prstGeom>
          <a:solidFill>
            <a:srgbClr val="14143A"/>
          </a:solidFill>
          <a:ln w="762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" y="3108960"/>
            <a:ext cx="475488" cy="475488"/>
          </a:xfrm>
          <a:prstGeom prst="ellipse">
            <a:avLst/>
          </a:prstGeom>
          <a:solidFill>
            <a:srgbClr val="252880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10896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  <a:latin typeface="Calibri"/>
              </a:rPr>
              <a:t>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108960"/>
            <a:ext cx="190195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Abu Dhabi HQ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639312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DB5"/>
                </a:solidFill>
                <a:latin typeface="Calibri"/>
              </a:rPr>
              <a:t>ADGM entity + physical presence signals legitimacy to regional enterprises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82112" y="3017520"/>
            <a:ext cx="2633472" cy="1417320"/>
          </a:xfrm>
          <a:prstGeom prst="rect">
            <a:avLst/>
          </a:prstGeom>
          <a:solidFill>
            <a:srgbClr val="14143A"/>
          </a:solidFill>
          <a:ln w="762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291840" y="3108960"/>
            <a:ext cx="475488" cy="475488"/>
          </a:xfrm>
          <a:prstGeom prst="ellipse">
            <a:avLst/>
          </a:prstGeom>
          <a:solidFill>
            <a:srgbClr val="252880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10896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  <a:latin typeface="Calibri"/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3108960"/>
            <a:ext cx="190195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Ecosystem 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639312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DB5"/>
                </a:solidFill>
                <a:latin typeface="Calibri"/>
              </a:rPr>
              <a:t>Hub71+ AI targets startups building real-world AI impact — Nexus AI is an exact fit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3017520"/>
            <a:ext cx="2633472" cy="1417320"/>
          </a:xfrm>
          <a:prstGeom prst="rect">
            <a:avLst/>
          </a:prstGeom>
          <a:solidFill>
            <a:srgbClr val="14143A"/>
          </a:solidFill>
          <a:ln w="762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26480" y="3108960"/>
            <a:ext cx="475488" cy="475488"/>
          </a:xfrm>
          <a:prstGeom prst="ellipse">
            <a:avLst/>
          </a:prstGeom>
          <a:solidFill>
            <a:srgbClr val="252880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310896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  <a:latin typeface="Calibri"/>
              </a:rPr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108960"/>
            <a:ext cx="190195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Path to Series 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3639312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DB5"/>
                </a:solidFill>
                <a:latin typeface="Calibri"/>
              </a:rPr>
              <a:t>Hub71 alumni network positions us for a $3M Series A targeting MENA + global Arabic SaaS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3D4E6A"/>
                </a:solidFill>
                <a:latin typeface="Calibri"/>
              </a:rPr>
              <a:t>nexus-grow.com  ·  raoufnaguib44@gmail.com  ·  Let's build the AI marketing future from Abu Dhabi.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